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4" r:id="rId5"/>
    <p:sldId id="260" r:id="rId6"/>
    <p:sldId id="261" r:id="rId7"/>
    <p:sldId id="263" r:id="rId8"/>
    <p:sldId id="267" r:id="rId9"/>
    <p:sldId id="273" r:id="rId10"/>
    <p:sldId id="272" r:id="rId11"/>
    <p:sldId id="274" r:id="rId12"/>
    <p:sldId id="266" r:id="rId13"/>
    <p:sldId id="262" r:id="rId14"/>
    <p:sldId id="269" r:id="rId15"/>
    <p:sldId id="270" r:id="rId16"/>
    <p:sldId id="271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B9BB3C-1AEB-4EB4-B066-A0C72131F3B7}" v="6" dt="2025-09-21T13:58:54.741"/>
    <p1510:client id="{8378533C-72CC-48E3-AC2D-66D54E59903B}" v="446" dt="2025-09-21T14:49:57.5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60"/>
  </p:normalViewPr>
  <p:slideViewPr>
    <p:cSldViewPr snapToGrid="0">
      <p:cViewPr varScale="1">
        <p:scale>
          <a:sx n="82" d="100"/>
          <a:sy n="82" d="100"/>
        </p:scale>
        <p:origin x="55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986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959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569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062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836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490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005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990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062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756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5050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2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6821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4217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8287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76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774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1073861" TargetMode="External"/><Relationship Id="rId2" Type="http://schemas.openxmlformats.org/officeDocument/2006/relationships/hyperlink" Target="https://ieeexplore.ieee.org/document/10911781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ieeexplore.ieee.org/document/9377098" TargetMode="External"/><Relationship Id="rId4" Type="http://schemas.openxmlformats.org/officeDocument/2006/relationships/hyperlink" Target="https://ieeexplore.ieee.org/document/10237173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1073861" TargetMode="External"/><Relationship Id="rId2" Type="http://schemas.openxmlformats.org/officeDocument/2006/relationships/hyperlink" Target="https://ieeexplore.ieee.org/document/10911781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ieeexplore.ieee.org/document/9377098" TargetMode="External"/><Relationship Id="rId4" Type="http://schemas.openxmlformats.org/officeDocument/2006/relationships/hyperlink" Target="https://ieeexplore.ieee.org/document/10237173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reencoded.png">
            <a:extLst>
              <a:ext uri="{FF2B5EF4-FFF2-40B4-BE49-F238E27FC236}">
                <a16:creationId xmlns:a16="http://schemas.microsoft.com/office/drawing/2014/main" id="{DE6EF4E6-C710-C592-8672-98BE63D32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02" y="431272"/>
            <a:ext cx="1032746" cy="9942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E7DC6C-50DE-A3BC-486E-07EC63092DC0}"/>
              </a:ext>
            </a:extLst>
          </p:cNvPr>
          <p:cNvSpPr txBox="1"/>
          <p:nvPr/>
        </p:nvSpPr>
        <p:spPr>
          <a:xfrm>
            <a:off x="-878" y="115220"/>
            <a:ext cx="12037760" cy="51090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                                                                   Vidarbha Youth Welfare Society's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                                  </a:t>
            </a:r>
            <a:r>
              <a:rPr lang="en-US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 RAM MEGHE COLLEGE OF ENGINEERING AND MANAGEMENT, BADNERA</a:t>
            </a:r>
          </a:p>
          <a:p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                                                         New express Highway, </a:t>
            </a:r>
            <a:r>
              <a:rPr lang="en-US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Badnera</a:t>
            </a: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- Amravati (M.S.) 444701</a:t>
            </a:r>
          </a:p>
          <a:p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                                                                        Phone: 0721-2580371, Fax: 0721-2580372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                                 </a:t>
            </a:r>
            <a:r>
              <a:rPr lang="en-US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Department of Computer Science and Engineering</a:t>
            </a:r>
            <a:endParaRPr lang="en-US" sz="2500" b="1" dirty="0">
              <a:solidFill>
                <a:srgbClr val="CFD0D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b="1" dirty="0">
              <a:solidFill>
                <a:srgbClr val="CFD0D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dirty="0">
              <a:solidFill>
                <a:srgbClr val="CFD0D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               </a:t>
            </a:r>
            <a:r>
              <a:rPr lang="en-US" sz="25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IoT-Enabled Motion Control and Position Monitoring System</a:t>
            </a:r>
          </a:p>
          <a:p>
            <a:r>
              <a:rPr lang="en-US" sz="25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                                 </a:t>
            </a:r>
            <a:r>
              <a:rPr lang="en-US" sz="25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Using MPU9250 and Machine Learning</a:t>
            </a:r>
            <a:endParaRPr lang="en-US" sz="25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r>
              <a:rPr lang="en-US" sz="25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                                                  </a:t>
            </a: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Semester : 8 </a:t>
            </a:r>
            <a:r>
              <a:rPr lang="en-US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(B)</a:t>
            </a:r>
          </a:p>
          <a:p>
            <a:endParaRPr lang="en-US" sz="25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endParaRPr lang="en-US" sz="2500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endParaRPr lang="en-US" sz="2500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       </a:t>
            </a:r>
          </a:p>
          <a:p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     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942F38-4F55-5234-C7C8-E23114DC3710}"/>
              </a:ext>
            </a:extLst>
          </p:cNvPr>
          <p:cNvSpPr txBox="1"/>
          <p:nvPr/>
        </p:nvSpPr>
        <p:spPr>
          <a:xfrm>
            <a:off x="213166" y="4831542"/>
            <a:ext cx="3810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Mayuri Mangesh Yende 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Shravani Narendra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Mahalle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Apeksha Bhagwan Ugale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Sakshi Padmakar Yeole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5E905-9F22-4623-0C35-E670C86E2463}"/>
              </a:ext>
            </a:extLst>
          </p:cNvPr>
          <p:cNvSpPr txBox="1"/>
          <p:nvPr/>
        </p:nvSpPr>
        <p:spPr>
          <a:xfrm>
            <a:off x="5100888" y="4899615"/>
            <a:ext cx="220435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Guide: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Vishalsinh V.  Bais 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87F202-27BF-2D39-1DD0-5A2AFD47D351}"/>
              </a:ext>
            </a:extLst>
          </p:cNvPr>
          <p:cNvSpPr txBox="1"/>
          <p:nvPr/>
        </p:nvSpPr>
        <p:spPr>
          <a:xfrm>
            <a:off x="8594158" y="4855141"/>
            <a:ext cx="292553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Dept. Of CSE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Dr.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D.G.Harkut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348A9D-ED3A-3EF4-F8C2-855908D4D56E}"/>
              </a:ext>
            </a:extLst>
          </p:cNvPr>
          <p:cNvSpPr txBox="1"/>
          <p:nvPr/>
        </p:nvSpPr>
        <p:spPr>
          <a:xfrm>
            <a:off x="4752637" y="3429000"/>
            <a:ext cx="26867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Group No:G-20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29C452-91BC-4CCC-6098-F42EE713885F}"/>
              </a:ext>
            </a:extLst>
          </p:cNvPr>
          <p:cNvSpPr txBox="1"/>
          <p:nvPr/>
        </p:nvSpPr>
        <p:spPr>
          <a:xfrm>
            <a:off x="548753" y="403495"/>
            <a:ext cx="9554756" cy="7602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ea typeface="+mn-lt"/>
                <a:cs typeface="+mn-lt"/>
              </a:rPr>
              <a:t>Content:</a:t>
            </a:r>
            <a:endParaRPr lang="en-US" sz="2400" b="1" dirty="0"/>
          </a:p>
          <a:p>
            <a:endParaRPr lang="en-US" sz="2400" dirty="0"/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latin typeface="Arial"/>
                <a:cs typeface="Arial"/>
              </a:rPr>
              <a:t>Literature Review</a:t>
            </a:r>
          </a:p>
          <a:p>
            <a:pPr marL="285750" indent="-285750">
              <a:buFont typeface="Arial,Sans-Serif"/>
              <a:buChar char="•"/>
            </a:pPr>
            <a:endParaRPr lang="en-US" sz="2000" dirty="0">
              <a:latin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latin typeface="Arial"/>
                <a:cs typeface="Arial"/>
              </a:rPr>
              <a:t>Literature Comparison</a:t>
            </a:r>
          </a:p>
          <a:p>
            <a:endParaRPr lang="en-US" sz="2000" dirty="0">
              <a:latin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latin typeface="Arial"/>
                <a:cs typeface="Arial"/>
              </a:rPr>
              <a:t>Problem Definition</a:t>
            </a:r>
          </a:p>
          <a:p>
            <a:endParaRPr lang="en-US" sz="2000" dirty="0">
              <a:latin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latin typeface="Arial"/>
                <a:cs typeface="Arial"/>
              </a:rPr>
              <a:t>Objective</a:t>
            </a:r>
          </a:p>
          <a:p>
            <a:endParaRPr lang="en-US" sz="2000" dirty="0">
              <a:latin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latin typeface="Arial"/>
                <a:cs typeface="Arial"/>
              </a:rPr>
              <a:t>Proposed Method </a:t>
            </a:r>
          </a:p>
          <a:p>
            <a:endParaRPr lang="en-US" sz="2000" dirty="0">
              <a:latin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latin typeface="Arial"/>
                <a:cs typeface="Arial"/>
              </a:rPr>
              <a:t>Project Output</a:t>
            </a:r>
          </a:p>
          <a:p>
            <a:endParaRPr lang="en-US" sz="2000" dirty="0">
              <a:latin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latin typeface="Arial"/>
                <a:cs typeface="Arial"/>
              </a:rPr>
              <a:t>Application</a:t>
            </a:r>
          </a:p>
          <a:p>
            <a:endParaRPr lang="en-US" sz="2000" dirty="0">
              <a:latin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latin typeface="Arial"/>
                <a:cs typeface="Arial"/>
              </a:rPr>
              <a:t>Conclusion</a:t>
            </a:r>
          </a:p>
          <a:p>
            <a:endParaRPr lang="en-US" sz="2000" dirty="0">
              <a:latin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latin typeface="Arial"/>
                <a:cs typeface="Arial"/>
              </a:rPr>
              <a:t>References</a:t>
            </a:r>
          </a:p>
          <a:p>
            <a:pPr marL="285750" indent="-285750">
              <a:buFont typeface="Arial,Sans-Serif"/>
              <a:buChar char="•"/>
            </a:pPr>
            <a:endParaRPr lang="en-US" sz="2000" dirty="0">
              <a:latin typeface="Arial"/>
              <a:cs typeface="Arial"/>
            </a:endParaRPr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73035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C9004C-2E78-717B-8C55-B3853CC86647}"/>
              </a:ext>
            </a:extLst>
          </p:cNvPr>
          <p:cNvSpPr txBox="1"/>
          <p:nvPr/>
        </p:nvSpPr>
        <p:spPr>
          <a:xfrm>
            <a:off x="267807" y="412946"/>
            <a:ext cx="11924678" cy="6986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Arial"/>
                <a:cs typeface="Arial"/>
              </a:rPr>
              <a:t>Literature Review </a:t>
            </a:r>
            <a:r>
              <a:rPr lang="en-US" sz="2400" dirty="0">
                <a:latin typeface="Arial"/>
                <a:cs typeface="Arial"/>
              </a:rPr>
              <a:t>:</a:t>
            </a:r>
          </a:p>
          <a:p>
            <a:endParaRPr lang="en-US" sz="2400" dirty="0">
              <a:latin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Wearable sensors, focus on Human Activity Recognition.</a:t>
            </a:r>
            <a:endParaRPr lang="en-US" dirty="0"/>
          </a:p>
          <a:p>
            <a:pPr marL="342900" indent="-34290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CNN improve accuracy on low power devices.</a:t>
            </a:r>
            <a:endParaRPr lang="en-US" dirty="0"/>
          </a:p>
          <a:p>
            <a:pPr marL="342900" indent="-34290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Affordable VR Glove for hand movement and touch feedback</a:t>
            </a:r>
            <a:endParaRPr lang="en-US" dirty="0">
              <a:ea typeface="+mn-lt"/>
              <a:cs typeface="+mn-lt"/>
            </a:endParaRPr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IMU sensors, Flex sensors and servo motors with wireless real-time operation.</a:t>
            </a:r>
            <a:endParaRPr lang="en-US" dirty="0"/>
          </a:p>
          <a:p>
            <a:pPr marL="342900" indent="-34290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Low-cost wearable device for knee movement.</a:t>
            </a:r>
            <a:endParaRPr lang="en-US" dirty="0"/>
          </a:p>
          <a:p>
            <a:pPr marL="342900" indent="-34290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Single IMU sensor for angle and speed.</a:t>
            </a:r>
            <a:endParaRPr lang="en-US" dirty="0"/>
          </a:p>
          <a:p>
            <a:pPr marL="342900" indent="-34290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Focus on accurate hand gesture recognition.</a:t>
            </a:r>
            <a:endParaRPr lang="en-US" dirty="0"/>
          </a:p>
          <a:p>
            <a:pPr marL="342900" indent="-34290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Gestures are classified and Decision tree, KNN, SVM.</a:t>
            </a:r>
            <a:endParaRPr lang="en-US" dirty="0"/>
          </a:p>
          <a:p>
            <a:pPr marL="342900" indent="-342900">
              <a:buFont typeface="Arial"/>
              <a:buChar char="•"/>
            </a:pPr>
            <a:endParaRPr lang="en-US" sz="2000" dirty="0">
              <a:latin typeface="Arial"/>
              <a:cs typeface="Arial"/>
            </a:endParaRPr>
          </a:p>
          <a:p>
            <a:endParaRPr lang="en-US" sz="2000" dirty="0">
              <a:latin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latin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latin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3350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302BDC-B31C-496B-6624-0AE4586B6F4B}"/>
              </a:ext>
            </a:extLst>
          </p:cNvPr>
          <p:cNvSpPr txBox="1"/>
          <p:nvPr/>
        </p:nvSpPr>
        <p:spPr>
          <a:xfrm>
            <a:off x="806836" y="125688"/>
            <a:ext cx="642768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Arial"/>
                <a:ea typeface="+mn-lt"/>
                <a:cs typeface="+mn-lt"/>
              </a:rPr>
              <a:t>Literature Comparison :</a:t>
            </a:r>
            <a:endParaRPr lang="en-US" sz="2400" b="1">
              <a:latin typeface="Arial"/>
              <a:cs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03262F-3D66-3BD3-CC52-47A1FD6D0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094553"/>
              </p:ext>
            </p:extLst>
          </p:nvPr>
        </p:nvGraphicFramePr>
        <p:xfrm>
          <a:off x="344465" y="521917"/>
          <a:ext cx="11521437" cy="6438121"/>
        </p:xfrm>
        <a:graphic>
          <a:graphicData uri="http://schemas.openxmlformats.org/drawingml/2006/table">
            <a:tbl>
              <a:tblPr lastRow="1" lastCol="1" bandRow="1">
                <a:tableStyleId>{5940675A-B579-460E-94D1-54222C63F5DA}</a:tableStyleId>
              </a:tblPr>
              <a:tblGrid>
                <a:gridCol w="1865856">
                  <a:extLst>
                    <a:ext uri="{9D8B030D-6E8A-4147-A177-3AD203B41FA5}">
                      <a16:colId xmlns:a16="http://schemas.microsoft.com/office/drawing/2014/main" val="2700016296"/>
                    </a:ext>
                  </a:extLst>
                </a:gridCol>
                <a:gridCol w="2053802">
                  <a:extLst>
                    <a:ext uri="{9D8B030D-6E8A-4147-A177-3AD203B41FA5}">
                      <a16:colId xmlns:a16="http://schemas.microsoft.com/office/drawing/2014/main" val="2458151722"/>
                    </a:ext>
                  </a:extLst>
                </a:gridCol>
                <a:gridCol w="1524479">
                  <a:extLst>
                    <a:ext uri="{9D8B030D-6E8A-4147-A177-3AD203B41FA5}">
                      <a16:colId xmlns:a16="http://schemas.microsoft.com/office/drawing/2014/main" val="260678738"/>
                    </a:ext>
                  </a:extLst>
                </a:gridCol>
                <a:gridCol w="1987027">
                  <a:extLst>
                    <a:ext uri="{9D8B030D-6E8A-4147-A177-3AD203B41FA5}">
                      <a16:colId xmlns:a16="http://schemas.microsoft.com/office/drawing/2014/main" val="971595819"/>
                    </a:ext>
                  </a:extLst>
                </a:gridCol>
                <a:gridCol w="1758383">
                  <a:extLst>
                    <a:ext uri="{9D8B030D-6E8A-4147-A177-3AD203B41FA5}">
                      <a16:colId xmlns:a16="http://schemas.microsoft.com/office/drawing/2014/main" val="609735242"/>
                    </a:ext>
                  </a:extLst>
                </a:gridCol>
                <a:gridCol w="2331890">
                  <a:extLst>
                    <a:ext uri="{9D8B030D-6E8A-4147-A177-3AD203B41FA5}">
                      <a16:colId xmlns:a16="http://schemas.microsoft.com/office/drawing/2014/main" val="2881636457"/>
                    </a:ext>
                  </a:extLst>
                </a:gridCol>
              </a:tblGrid>
              <a:tr h="464041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Arial"/>
                        </a:rPr>
                        <a:t>Paper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 dirty="0">
                          <a:latin typeface="Arial"/>
                        </a:rPr>
                        <a:t>Focus/Problem</a:t>
                      </a:r>
                      <a:endParaRPr lang="en-US" sz="2000" b="1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 dirty="0">
                          <a:latin typeface="Arial"/>
                        </a:rPr>
                        <a:t>Hardware</a:t>
                      </a:r>
                      <a:endParaRPr lang="en-US" sz="2000" b="1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 dirty="0">
                          <a:latin typeface="Arial"/>
                        </a:rPr>
                        <a:t>Software</a:t>
                      </a:r>
                      <a:endParaRPr lang="en-US" sz="2000" b="1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1F1F1F"/>
                          </a:solidFill>
                          <a:latin typeface="Arial"/>
                        </a:rPr>
                        <a:t>ML/Algorithm</a:t>
                      </a:r>
                      <a:endParaRPr lang="en-US" sz="1800" b="1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rgbClr val="1F1F1F"/>
                          </a:solidFill>
                          <a:latin typeface="Arial"/>
                        </a:rPr>
                        <a:t>Application</a:t>
                      </a:r>
                      <a:endParaRPr lang="en-US" sz="2000" b="1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134227"/>
                  </a:ext>
                </a:extLst>
              </a:tr>
              <a:tr h="111625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latin typeface="Arial"/>
                        </a:rPr>
                        <a:t>Efficient Real-Time HAR with </a:t>
                      </a:r>
                      <a:r>
                        <a:rPr lang="en-US" sz="2000" b="0" i="0" u="none" strike="noStrike" noProof="0" dirty="0" err="1">
                          <a:latin typeface="Arial"/>
                        </a:rPr>
                        <a:t>CondConv</a:t>
                      </a:r>
                      <a:r>
                        <a:rPr lang="en-US" sz="2000" b="0" i="0" u="none" strike="noStrike" noProof="0" dirty="0">
                          <a:latin typeface="Arial"/>
                        </a:rPr>
                        <a:t>[</a:t>
                      </a:r>
                      <a:r>
                        <a:rPr lang="en-US" sz="2000" b="0" i="0" u="none" strike="noStrike" noProof="0" dirty="0">
                          <a:latin typeface="Arial"/>
                          <a:hlinkClick r:id="rId2"/>
                        </a:rPr>
                        <a:t>1</a:t>
                      </a:r>
                      <a:r>
                        <a:rPr lang="en-US" sz="2000" b="0" i="0" u="none" strike="noStrike" noProof="0" dirty="0">
                          <a:latin typeface="Arial"/>
                        </a:rPr>
                        <a:t>]</a:t>
                      </a:r>
                      <a:endParaRPr lang="en-US" sz="20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/>
                        <a:t>Detect HAR on </a:t>
                      </a:r>
                      <a:r>
                        <a:rPr lang="en-US" sz="2000" b="0" i="0" u="none" strike="noStrike" noProof="0" dirty="0">
                          <a:latin typeface="Trebuchet MS"/>
                        </a:rPr>
                        <a:t>IOT device in </a:t>
                      </a:r>
                      <a:r>
                        <a:rPr lang="en-US" sz="2000" b="0" i="0" u="none" strike="noStrike" noProof="0" dirty="0"/>
                        <a:t>real time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latin typeface="Arial"/>
                        </a:rPr>
                        <a:t>On-body sensors, Raspberry Pi</a:t>
                      </a:r>
                    </a:p>
                    <a:p>
                      <a:pPr lvl="0">
                        <a:buNone/>
                      </a:pPr>
                      <a:endParaRPr lang="en-US" sz="2000" b="0" i="0" u="none" strike="noStrike" noProof="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1F1F1F"/>
                          </a:solidFill>
                          <a:latin typeface="Arial"/>
                        </a:rPr>
                        <a:t>Python, TensorFlow</a:t>
                      </a:r>
                      <a:endParaRPr lang="en-US" sz="20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err="1">
                          <a:solidFill>
                            <a:srgbClr val="1F1F1F"/>
                          </a:solidFill>
                          <a:latin typeface="Arial"/>
                        </a:rPr>
                        <a:t>CondConv</a:t>
                      </a:r>
                      <a:r>
                        <a:rPr lang="en-US" sz="2000" b="0" i="0" u="none" strike="noStrike" noProof="0" dirty="0">
                          <a:solidFill>
                            <a:srgbClr val="1F1F1F"/>
                          </a:solidFill>
                          <a:latin typeface="Arial"/>
                        </a:rPr>
                        <a:t>, CNN, sliding window</a:t>
                      </a:r>
                      <a:endParaRPr lang="en-US" sz="20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latin typeface="Arial"/>
                        </a:rPr>
                        <a:t>Healthcare, sports, activity monitoring</a:t>
                      </a:r>
                      <a:endParaRPr lang="en-US" sz="20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00205"/>
                  </a:ext>
                </a:extLst>
              </a:tr>
              <a:tr h="9058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1F1F1F"/>
                          </a:solidFill>
                          <a:latin typeface="Arial"/>
                        </a:rPr>
                        <a:t>Feedback Simulation using IMU &amp; Servo[</a:t>
                      </a:r>
                      <a:r>
                        <a:rPr lang="en-US" sz="2000" b="0" i="0" u="none" strike="noStrike" noProof="0" dirty="0">
                          <a:solidFill>
                            <a:srgbClr val="1F1F1F"/>
                          </a:solidFill>
                          <a:latin typeface="Arial"/>
                          <a:hlinkClick r:id="rId3"/>
                        </a:rPr>
                        <a:t>2</a:t>
                      </a:r>
                      <a:r>
                        <a:rPr lang="en-US" sz="2000" b="0" i="0" u="none" strike="noStrike" noProof="0" dirty="0">
                          <a:solidFill>
                            <a:srgbClr val="1F1F1F"/>
                          </a:solidFill>
                          <a:latin typeface="Arial"/>
                        </a:rPr>
                        <a:t>]</a:t>
                      </a:r>
                      <a:endParaRPr lang="en-US" sz="20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/>
                        <a:t>Touch feedback i</a:t>
                      </a:r>
                      <a:r>
                        <a:rPr lang="en-US" sz="2000" b="0" i="0" u="none" strike="noStrike" noProof="0" dirty="0">
                          <a:latin typeface="Trebuchet MS"/>
                        </a:rPr>
                        <a:t>n Affordable </a:t>
                      </a:r>
                      <a:r>
                        <a:rPr lang="en-US" sz="2000" b="0" i="0" u="none" strike="noStrike" noProof="0" dirty="0"/>
                        <a:t>VR Glove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1F1F1F"/>
                          </a:solidFill>
                          <a:latin typeface="Arial"/>
                        </a:rPr>
                        <a:t>ESP32, servo, IMU, flex sensors</a:t>
                      </a:r>
                      <a:endParaRPr lang="en-US" sz="20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latin typeface="Arial"/>
                        </a:rPr>
                        <a:t>Arduino IDE, </a:t>
                      </a:r>
                      <a:r>
                        <a:rPr lang="en-US" sz="2000" b="0" i="0" u="none" strike="noStrike" noProof="0" err="1">
                          <a:latin typeface="Arial"/>
                        </a:rPr>
                        <a:t>SlimeVR</a:t>
                      </a:r>
                      <a:endParaRPr lang="en-US" sz="200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1F1F1F"/>
                          </a:solidFill>
                          <a:latin typeface="Arial"/>
                        </a:rPr>
                        <a:t>Sensor fusion, servo control</a:t>
                      </a:r>
                      <a:endParaRPr lang="en-US" sz="20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latin typeface="Arial"/>
                        </a:rPr>
                        <a:t>VR/AR, rehab, training</a:t>
                      </a:r>
                      <a:endParaRPr lang="en-US" sz="20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195800"/>
                  </a:ext>
                </a:extLst>
              </a:tr>
              <a:tr h="15837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 err="1">
                          <a:latin typeface="Arial"/>
                        </a:rPr>
                        <a:t>Developement</a:t>
                      </a:r>
                      <a:r>
                        <a:rPr lang="en-US" sz="1800" b="0" i="0" u="none" strike="noStrike" noProof="0" dirty="0">
                          <a:latin typeface="Arial"/>
                        </a:rPr>
                        <a:t> of Sensory Unit Using a Single IMU Sensor for Knee Joint Movement [</a:t>
                      </a:r>
                      <a:r>
                        <a:rPr lang="en-US" sz="1800" b="0" i="0" u="none" strike="noStrike" noProof="0" dirty="0">
                          <a:latin typeface="Arial"/>
                          <a:hlinkClick r:id="rId4"/>
                        </a:rPr>
                        <a:t>3</a:t>
                      </a:r>
                      <a:r>
                        <a:rPr lang="en-US" sz="1800" b="0" i="0" u="none" strike="noStrike" noProof="0" dirty="0">
                          <a:latin typeface="Arial"/>
                        </a:rPr>
                        <a:t>]</a:t>
                      </a:r>
                      <a:endParaRPr lang="en-US" sz="18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/>
                        <a:t>Low cost knee</a:t>
                      </a:r>
                      <a:endParaRPr lang="en-US" sz="2000" dirty="0"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/>
                        <a:t>rehabilitation for </a:t>
                      </a:r>
                      <a:r>
                        <a:rPr lang="en-US" sz="2000" b="0" i="0" u="none" strike="noStrike" noProof="0" dirty="0">
                          <a:latin typeface="Trebuchet MS"/>
                        </a:rPr>
                        <a:t>paralysis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  <a:p>
                      <a:pPr lvl="0">
                        <a:buNone/>
                      </a:pPr>
                      <a:endParaRPr lang="en-US" sz="20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1F1F1F"/>
                          </a:solidFill>
                          <a:latin typeface="Arial"/>
                        </a:rPr>
                        <a:t>MPU9250</a:t>
                      </a:r>
                      <a:endParaRPr lang="en-US" sz="20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latin typeface="Arial"/>
                        </a:rPr>
                        <a:t>Arduino IDE</a:t>
                      </a:r>
                      <a:endParaRPr lang="en-US" sz="20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1F1F1F"/>
                          </a:solidFill>
                          <a:latin typeface="Arial"/>
                        </a:rPr>
                        <a:t>       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sz="2000" b="0" i="0" u="none" strike="noStrike" noProof="0" dirty="0">
                        <a:solidFill>
                          <a:srgbClr val="1F1F1F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1F1F1F"/>
                          </a:solidFill>
                          <a:latin typeface="Arial"/>
                        </a:rPr>
                        <a:t>        --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1F1F1F"/>
                          </a:solidFill>
                          <a:latin typeface="Arial"/>
                        </a:rPr>
                        <a:t>Rehabilitation, physiotherapy</a:t>
                      </a:r>
                      <a:endParaRPr lang="en-US" sz="20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48537"/>
                  </a:ext>
                </a:extLst>
              </a:tr>
              <a:tr h="8679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rial"/>
                        </a:rPr>
                        <a:t>Automatic Gesture Recognizer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rial"/>
                        </a:rPr>
                        <a:t>(SVM)[</a:t>
                      </a:r>
                      <a:r>
                        <a:rPr lang="en-US" sz="1800" b="0" i="0" u="none" strike="noStrike" noProof="0" dirty="0">
                          <a:latin typeface="Arial"/>
                          <a:hlinkClick r:id="rId5"/>
                        </a:rPr>
                        <a:t>4</a:t>
                      </a:r>
                      <a:r>
                        <a:rPr lang="en-US" sz="1800" b="0" i="0" u="none" strike="noStrike" noProof="0" dirty="0">
                          <a:latin typeface="Arial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/>
                        <a:t>Recognition of</a:t>
                      </a:r>
                    </a:p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latin typeface="Trebuchet MS"/>
                        </a:rPr>
                        <a:t>hand gesture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err="1">
                          <a:solidFill>
                            <a:srgbClr val="1F1F1F"/>
                          </a:solidFill>
                          <a:latin typeface="Arial"/>
                        </a:rPr>
                        <a:t>NodeMCU</a:t>
                      </a:r>
                      <a:r>
                        <a:rPr lang="en-US" sz="2000" b="0" i="0" u="none" strike="noStrike" noProof="0" dirty="0">
                          <a:solidFill>
                            <a:srgbClr val="1F1F1F"/>
                          </a:solidFill>
                          <a:latin typeface="Arial"/>
                        </a:rPr>
                        <a:t> ESP8266. MPU9250</a:t>
                      </a:r>
                      <a:endParaRPr lang="en-US" sz="20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latin typeface="Arial"/>
                        </a:rPr>
                        <a:t>Arduino IDE</a:t>
                      </a:r>
                      <a:endParaRPr lang="en-US" sz="20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1F1F1F"/>
                          </a:solidFill>
                          <a:latin typeface="Arial"/>
                        </a:rPr>
                        <a:t>SVM, KNN, Decision Tree</a:t>
                      </a:r>
                      <a:endParaRPr lang="en-US" sz="20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latin typeface="Arial"/>
                        </a:rPr>
                        <a:t>Assistive tech, secure gestures</a:t>
                      </a:r>
                      <a:endParaRPr lang="en-US" sz="20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832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0773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84A82B-18E8-C8FC-C94E-5D321FEA4D50}"/>
              </a:ext>
            </a:extLst>
          </p:cNvPr>
          <p:cNvSpPr txBox="1"/>
          <p:nvPr/>
        </p:nvSpPr>
        <p:spPr>
          <a:xfrm>
            <a:off x="475991" y="413360"/>
            <a:ext cx="10185746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 b="1" dirty="0">
              <a:latin typeface="Arial"/>
              <a:cs typeface="Arial"/>
            </a:endParaRPr>
          </a:p>
          <a:p>
            <a:r>
              <a:rPr lang="en-US" sz="2400" b="1" dirty="0">
                <a:latin typeface="Arial"/>
                <a:cs typeface="Arial"/>
              </a:rPr>
              <a:t>Problem Definition:</a:t>
            </a:r>
            <a:endParaRPr lang="en-US" sz="2400" b="1" dirty="0"/>
          </a:p>
          <a:p>
            <a:endParaRPr lang="en-US" sz="2400" b="1" dirty="0">
              <a:latin typeface="Arial"/>
              <a:ea typeface="+mn-lt"/>
              <a:cs typeface="Arial"/>
            </a:endParaRPr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Traditional motion-control and position-tracking systems are often large, expensive, and depend on multiple sensors, which makes real-time monitoring slow and complicated.</a:t>
            </a:r>
            <a:endParaRPr lang="en-US" sz="2000" dirty="0">
              <a:ea typeface="+mn-lt"/>
              <a:cs typeface="Arial"/>
            </a:endParaRPr>
          </a:p>
          <a:p>
            <a:r>
              <a:rPr lang="en-US" sz="2000" dirty="0">
                <a:ea typeface="+mn-lt"/>
                <a:cs typeface="+mn-lt"/>
              </a:rPr>
              <a:t>We propose a simpler solution: a low-cost, IoT-enabled system that uses a single MPU9250 sensor to track motion and position accurately, and applies machine learning to provide real-time control and analysis. </a:t>
            </a:r>
            <a:endParaRPr lang="en-US" sz="2000" dirty="0">
              <a:latin typeface="Trebuchet MS"/>
              <a:cs typeface="Arial"/>
            </a:endParaRPr>
          </a:p>
          <a:p>
            <a:endParaRPr lang="en-US" sz="2400" b="1" dirty="0">
              <a:latin typeface="Arial"/>
              <a:cs typeface="Arial"/>
            </a:endParaRPr>
          </a:p>
          <a:p>
            <a:endParaRPr lang="en-US" sz="2000" dirty="0">
              <a:latin typeface="Arial"/>
              <a:cs typeface="Arial"/>
            </a:endParaRPr>
          </a:p>
          <a:p>
            <a:r>
              <a:rPr lang="en-US" sz="2000" dirty="0">
                <a:cs typeface="Arial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1985238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2B4029-BAE6-2FFD-2220-716E8C051A3B}"/>
              </a:ext>
            </a:extLst>
          </p:cNvPr>
          <p:cNvSpPr txBox="1"/>
          <p:nvPr/>
        </p:nvSpPr>
        <p:spPr>
          <a:xfrm>
            <a:off x="532613" y="484193"/>
            <a:ext cx="10022810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Arial"/>
                <a:cs typeface="Arial"/>
              </a:rPr>
              <a:t>Objective:</a:t>
            </a:r>
          </a:p>
          <a:p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Arial"/>
                <a:ea typeface="+mn-lt"/>
                <a:cs typeface="+mn-lt"/>
              </a:rPr>
              <a:t>Enable motion control using MPU9250 .</a:t>
            </a:r>
            <a:endParaRPr lang="en-US" sz="2000" dirty="0">
              <a:latin typeface="Arial"/>
              <a:cs typeface="Arial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latin typeface="Arial"/>
              <a:ea typeface="+mn-lt"/>
              <a:cs typeface="+mn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Arial"/>
                <a:ea typeface="+mn-lt"/>
                <a:cs typeface="+mn-lt"/>
              </a:rPr>
              <a:t>Enable IOT based real-time data transmission over wi-fi .</a:t>
            </a:r>
            <a:endParaRPr lang="en-US" sz="2000" dirty="0">
              <a:latin typeface="Arial"/>
              <a:cs typeface="Arial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latin typeface="Arial"/>
              <a:ea typeface="+mn-lt"/>
              <a:cs typeface="+mn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Arial"/>
                <a:ea typeface="+mn-lt"/>
                <a:cs typeface="+mn-lt"/>
              </a:rPr>
              <a:t>Implement  motion control actions.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latin typeface="Arial"/>
              <a:cs typeface="Arial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Arial"/>
                <a:cs typeface="Arial"/>
              </a:rPr>
              <a:t>To utilize MPU9250 for accurate detection of position, tilt and motion.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latin typeface="Arial"/>
              <a:cs typeface="Arial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Arial"/>
                <a:cs typeface="Arial"/>
              </a:rPr>
              <a:t>Apply Machine learning  for motion pattern classification.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119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26A301-AF5A-8564-2AE0-AED3F9E2A299}"/>
              </a:ext>
            </a:extLst>
          </p:cNvPr>
          <p:cNvSpPr txBox="1"/>
          <p:nvPr/>
        </p:nvSpPr>
        <p:spPr>
          <a:xfrm>
            <a:off x="298580" y="251927"/>
            <a:ext cx="11728579" cy="63709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Arial"/>
                <a:ea typeface="+mn-lt"/>
                <a:cs typeface="Arial"/>
              </a:rPr>
              <a:t>Proposed Method </a:t>
            </a:r>
            <a:r>
              <a:rPr lang="en-US" sz="2400" b="1" dirty="0">
                <a:latin typeface="Arial"/>
                <a:ea typeface="+mn-lt"/>
                <a:cs typeface="+mn-lt"/>
              </a:rPr>
              <a:t> :</a:t>
            </a:r>
          </a:p>
          <a:p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Zero 2W – Main controller for data processing and ML execution.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MPU9250 – Measures acceleration and angular velocity along X, Y, Z axes.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– Receiver and communication controller.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PCA9685 PWM Driver – Generates PWM signals for servo control.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Motors – Controls robotic arm movement.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Acrylic robotic arm structure for multi-axis movement.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battery/power supply for stable operation.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Methodology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MPU9250 sensor captures real-time hand motion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communicates with Raspberry Pi using I2C protocol.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processes accelerometer and gyroscope data.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commands are transmitted wirelessly to ESP32.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sends PWM signals through PCA9685 driver.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motors rotate according to predicted angles.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 arm performs smooth multi-axis movement.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loop continuously updates motion accuracy.</a:t>
            </a:r>
          </a:p>
        </p:txBody>
      </p:sp>
    </p:spTree>
    <p:extLst>
      <p:ext uri="{BB962C8B-B14F-4D97-AF65-F5344CB8AC3E}">
        <p14:creationId xmlns:p14="http://schemas.microsoft.com/office/powerpoint/2010/main" val="2613592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979B46-4F93-815B-33E2-27F9DD6C02A2}"/>
              </a:ext>
            </a:extLst>
          </p:cNvPr>
          <p:cNvSpPr txBox="1"/>
          <p:nvPr/>
        </p:nvSpPr>
        <p:spPr>
          <a:xfrm>
            <a:off x="636814" y="503464"/>
            <a:ext cx="9552214" cy="48889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Software Methodology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Real-time motion data collected from MPU9250 sensor.</a:t>
            </a:r>
          </a:p>
          <a:p>
            <a:pPr>
              <a:lnSpc>
                <a:spcPct val="150000"/>
              </a:lnSpc>
            </a:pPr>
            <a:r>
              <a:rPr lang="en-US" dirty="0"/>
              <a:t>Data preprocessing performed: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Noise filtering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Missing value handling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Normalization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Sensor values mapped into servo motor angles.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CatBoost</a:t>
            </a:r>
            <a:r>
              <a:rPr lang="en-US" dirty="0"/>
              <a:t> regression model trained using sensor dataset.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Model predicts servo motor positions in real time.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Predicted angles transmitted to ESP32 via Bluetooth/Wi-Fi.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ESP32 controls servo motors through PCA9685 driver.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Smooth movement and jitter reduction applied for accurate robotic arm motion.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B15174-4D4C-479A-D863-100A22BFE0BC}"/>
              </a:ext>
            </a:extLst>
          </p:cNvPr>
          <p:cNvSpPr txBox="1"/>
          <p:nvPr/>
        </p:nvSpPr>
        <p:spPr>
          <a:xfrm>
            <a:off x="9238550" y="6510291"/>
            <a:ext cx="29014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Raspberry Pi Zero 2W</a:t>
            </a:r>
          </a:p>
        </p:txBody>
      </p:sp>
    </p:spTree>
    <p:extLst>
      <p:ext uri="{BB962C8B-B14F-4D97-AF65-F5344CB8AC3E}">
        <p14:creationId xmlns:p14="http://schemas.microsoft.com/office/powerpoint/2010/main" val="1151596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460B3-7E59-A51B-2ABA-2CAFA6D20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2F619E-791B-7568-A66C-8735AE15FF94}"/>
              </a:ext>
            </a:extLst>
          </p:cNvPr>
          <p:cNvSpPr txBox="1"/>
          <p:nvPr/>
        </p:nvSpPr>
        <p:spPr>
          <a:xfrm>
            <a:off x="447869" y="242596"/>
            <a:ext cx="10105053" cy="62180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Software Requirements</a:t>
            </a:r>
          </a:p>
          <a:p>
            <a:endParaRPr lang="en-US" sz="2000" b="1" dirty="0"/>
          </a:p>
          <a:p>
            <a:r>
              <a:rPr lang="en-US" dirty="0"/>
              <a:t>Raspberry Pi OS Legacy (64-bit) </a:t>
            </a:r>
          </a:p>
          <a:p>
            <a:r>
              <a:rPr lang="en-US" dirty="0"/>
              <a:t>Python Programming Language </a:t>
            </a:r>
          </a:p>
          <a:p>
            <a:r>
              <a:rPr lang="en-US" dirty="0"/>
              <a:t>Arduino IDE for ESP32 programming </a:t>
            </a:r>
          </a:p>
          <a:p>
            <a:r>
              <a:rPr lang="en-US" dirty="0" err="1"/>
              <a:t>MobaXterm</a:t>
            </a:r>
            <a:r>
              <a:rPr lang="en-US" dirty="0"/>
              <a:t> for SSH remote access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Libraries Used</a:t>
            </a:r>
          </a:p>
          <a:p>
            <a:endParaRPr lang="en-US" b="1" dirty="0"/>
          </a:p>
          <a:p>
            <a:r>
              <a:rPr lang="en-US" sz="2000" b="1" dirty="0"/>
              <a:t>a.</a:t>
            </a:r>
            <a:r>
              <a:rPr lang="en-US" b="1" dirty="0"/>
              <a:t> Transmission Side (Raspberry Pi)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/>
              <a:t>smbus</a:t>
            </a:r>
            <a:r>
              <a:rPr lang="en-US" dirty="0"/>
              <a:t> – I2C communication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NumPy – Numerical operations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Pandas – Dataset handling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/>
              <a:t>CatBoost</a:t>
            </a:r>
            <a:r>
              <a:rPr lang="en-US" dirty="0"/>
              <a:t> – Machine learning prediction model </a:t>
            </a:r>
          </a:p>
          <a:p>
            <a:endParaRPr lang="en-US" dirty="0"/>
          </a:p>
          <a:p>
            <a:r>
              <a:rPr lang="en-US" sz="2000" b="1" dirty="0"/>
              <a:t>b</a:t>
            </a:r>
            <a:r>
              <a:rPr lang="en-US" b="1" dirty="0"/>
              <a:t>. Receiver Side (ESP32)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/>
              <a:t>Wire.h</a:t>
            </a:r>
            <a:r>
              <a:rPr lang="en-US" dirty="0"/>
              <a:t> – I2C communication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/>
              <a:t>BluetoothSerial</a:t>
            </a:r>
            <a:r>
              <a:rPr lang="en-US" dirty="0"/>
              <a:t> – Wireless communication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/>
              <a:t>Adafruit_PWMServoDriver</a:t>
            </a:r>
            <a:r>
              <a:rPr lang="en-US" dirty="0"/>
              <a:t> – Servo motor control</a:t>
            </a:r>
          </a:p>
        </p:txBody>
      </p:sp>
    </p:spTree>
    <p:extLst>
      <p:ext uri="{BB962C8B-B14F-4D97-AF65-F5344CB8AC3E}">
        <p14:creationId xmlns:p14="http://schemas.microsoft.com/office/powerpoint/2010/main" val="1729089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17277-DA81-F98E-E2BF-E221F66DC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87F93A-FE76-8B70-A473-63F21D390CFA}"/>
              </a:ext>
            </a:extLst>
          </p:cNvPr>
          <p:cNvSpPr txBox="1"/>
          <p:nvPr/>
        </p:nvSpPr>
        <p:spPr>
          <a:xfrm>
            <a:off x="384888" y="288860"/>
            <a:ext cx="9552214" cy="63709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Output 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image shows the robotic arm project </a:t>
            </a:r>
          </a:p>
          <a:p>
            <a:r>
              <a:rPr lang="en-US" sz="2000" dirty="0"/>
              <a:t>     working model.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Hand movements are captured using the</a:t>
            </a:r>
          </a:p>
          <a:p>
            <a:r>
              <a:rPr lang="en-US" sz="2000" dirty="0"/>
              <a:t>     MPU9250 sensor.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sensor is attached to the user’s hand.</a:t>
            </a:r>
          </a:p>
          <a:p>
            <a:r>
              <a:rPr lang="en-US" sz="2000" dirty="0"/>
              <a:t>     Raspberry Pi Zero 2W processes the motion data.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Machine learning predicts servo motor angles.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Motion data is sent wirelessly to the ESP32.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PCA9685 PWM Driver controls the servo motors.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Servo motors move the robotic arm according </a:t>
            </a:r>
          </a:p>
          <a:p>
            <a:r>
              <a:rPr lang="en-US" sz="2000" dirty="0"/>
              <a:t>     to hand motion.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Different images show different robotic </a:t>
            </a:r>
          </a:p>
          <a:p>
            <a:r>
              <a:rPr lang="en-US" sz="2000" dirty="0"/>
              <a:t>     arm positions.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system performs real-time gesture-</a:t>
            </a:r>
          </a:p>
          <a:p>
            <a:r>
              <a:rPr lang="en-US" sz="2000" dirty="0"/>
              <a:t>     based robotic control.</a:t>
            </a:r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DAAD28-0C20-DC60-1EED-11B86CA9C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589" y="1129002"/>
            <a:ext cx="5125942" cy="377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684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71A8F-64C9-CE2D-407B-FE4C98DC4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F8EF2C-797C-685C-724C-CE57DC968588}"/>
              </a:ext>
            </a:extLst>
          </p:cNvPr>
          <p:cNvSpPr txBox="1"/>
          <p:nvPr/>
        </p:nvSpPr>
        <p:spPr>
          <a:xfrm>
            <a:off x="636813" y="503464"/>
            <a:ext cx="10933145" cy="9910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r>
              <a:rPr lang="en-US" sz="2400" b="1" dirty="0"/>
              <a:t>Applications:</a:t>
            </a:r>
          </a:p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Gesture-based robotic arm control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Industrial automation and object handling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Assistive system for physically challenged or paralysis patients</a:t>
            </a:r>
          </a:p>
          <a:p>
            <a:r>
              <a:rPr lang="en-US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Remote robotic control applications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Human motion tracking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Pick-and-place robotic operations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Medical and rehabilitation support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Educational and research purposes in robotics and AI</a:t>
            </a:r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07557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9EC9DC-AB92-B81F-AE62-AC8277FE61C7}"/>
              </a:ext>
            </a:extLst>
          </p:cNvPr>
          <p:cNvSpPr txBox="1"/>
          <p:nvPr/>
        </p:nvSpPr>
        <p:spPr>
          <a:xfrm>
            <a:off x="560821" y="1160769"/>
            <a:ext cx="1089036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Arial"/>
                <a:ea typeface="+mn-lt"/>
                <a:cs typeface="+mn-lt"/>
              </a:rPr>
              <a:t>Conclusion:</a:t>
            </a:r>
            <a:endParaRPr lang="en-US" sz="2400" b="1" dirty="0">
              <a:latin typeface="Arial"/>
            </a:endParaRPr>
          </a:p>
          <a:p>
            <a:endParaRPr lang="en-US" dirty="0"/>
          </a:p>
          <a:p>
            <a:r>
              <a:rPr lang="en-US" dirty="0">
                <a:latin typeface="Arial"/>
                <a:ea typeface="+mn-lt"/>
                <a:cs typeface="+mn-lt"/>
              </a:rPr>
              <a:t>Our system </a:t>
            </a:r>
            <a:r>
              <a:rPr lang="en-US" dirty="0"/>
              <a:t>developed a robotic arm that can be controlled using hand gestures.</a:t>
            </a:r>
            <a:br>
              <a:rPr lang="en-US" dirty="0"/>
            </a:br>
            <a:r>
              <a:rPr lang="en-US" dirty="0"/>
              <a:t>The MPU9250 sensor captures hand movements, and the Raspberry Pi Zero 2W processes the data to control the robotic arm.</a:t>
            </a:r>
            <a:br>
              <a:rPr lang="en-US" dirty="0"/>
            </a:br>
            <a:r>
              <a:rPr lang="en-US" dirty="0"/>
              <a:t>Machine learning is used to improve movement accuracy and make the robotic arm move smoothly.</a:t>
            </a:r>
            <a:br>
              <a:rPr lang="en-US" dirty="0"/>
            </a:br>
            <a:r>
              <a:rPr lang="en-US" dirty="0"/>
              <a:t>This system can be used in automation, medical support, and remote robotic control applications.</a:t>
            </a:r>
          </a:p>
          <a:p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111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FC0C2E-BAA0-4E32-EE34-8E86DA451567}"/>
              </a:ext>
            </a:extLst>
          </p:cNvPr>
          <p:cNvSpPr txBox="1"/>
          <p:nvPr/>
        </p:nvSpPr>
        <p:spPr>
          <a:xfrm>
            <a:off x="222526" y="591470"/>
            <a:ext cx="11546404" cy="63094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References 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dirty="0">
                <a:latin typeface="Arial"/>
                <a:cs typeface="Arial"/>
              </a:rPr>
              <a:t>[</a:t>
            </a:r>
            <a:r>
              <a:rPr lang="en-US" dirty="0">
                <a:latin typeface="Arial"/>
                <a:cs typeface="Arial"/>
                <a:hlinkClick r:id="rId2"/>
              </a:rPr>
              <a:t>1</a:t>
            </a:r>
            <a:r>
              <a:rPr lang="en-US" dirty="0">
                <a:latin typeface="Arial"/>
                <a:cs typeface="Arial"/>
              </a:rPr>
              <a:t>] </a:t>
            </a:r>
            <a:r>
              <a:rPr lang="en-US" dirty="0">
                <a:latin typeface="Arial"/>
                <a:cs typeface="Times New Roman"/>
              </a:rPr>
              <a:t>Lovanshi, M., Tiwari, V., Singh, A., &amp; Ingle, R. (2024, December). Efficient Real-Time Human Activity Recognition with IoT Sensor Data Using Conditionally Parametrized Convolutions. In </a:t>
            </a:r>
            <a:r>
              <a:rPr lang="en-US" i="1" dirty="0">
                <a:latin typeface="Arial"/>
                <a:cs typeface="Times New Roman"/>
              </a:rPr>
              <a:t>2024 IEEE 4th International Conference on ICT in Business Industry &amp; Government (ICTBIG)</a:t>
            </a:r>
            <a:r>
              <a:rPr lang="en-US" dirty="0">
                <a:latin typeface="Arial"/>
                <a:cs typeface="Times New Roman"/>
              </a:rPr>
              <a:t> (pp. 1-6). IEEE.</a:t>
            </a:r>
            <a:endParaRPr lang="en-US" dirty="0">
              <a:latin typeface="Arial"/>
              <a:ea typeface="+mn-lt"/>
              <a:cs typeface="Times New Roman"/>
            </a:endParaRPr>
          </a:p>
          <a:p>
            <a:endParaRPr lang="en-US" dirty="0">
              <a:latin typeface="Arial"/>
              <a:ea typeface="+mn-lt"/>
              <a:cs typeface="Times New Roman"/>
            </a:endParaRPr>
          </a:p>
          <a:p>
            <a:r>
              <a:rPr lang="en-US" dirty="0">
                <a:latin typeface="Arial"/>
                <a:ea typeface="+mn-lt"/>
                <a:cs typeface="Arial"/>
              </a:rPr>
              <a:t>[</a:t>
            </a:r>
            <a:r>
              <a:rPr lang="en-US" dirty="0">
                <a:latin typeface="Arial"/>
                <a:ea typeface="+mn-lt"/>
                <a:cs typeface="Arial"/>
                <a:hlinkClick r:id="rId3"/>
              </a:rPr>
              <a:t>2</a:t>
            </a:r>
            <a:r>
              <a:rPr lang="en-US" dirty="0">
                <a:latin typeface="Arial"/>
                <a:ea typeface="+mn-lt"/>
                <a:cs typeface="Arial"/>
              </a:rPr>
              <a:t>]</a:t>
            </a:r>
            <a:r>
              <a:rPr lang="en-US" dirty="0">
                <a:latin typeface="Arial"/>
                <a:ea typeface="+mn-lt"/>
                <a:cs typeface="Times New Roman"/>
              </a:rPr>
              <a:t>Umar, A., Tripathi, S., &amp; Mahato, B. (2024, December). Feedback Simulation using IMU and Servo Motor. In </a:t>
            </a:r>
            <a:r>
              <a:rPr lang="en-US" i="1" dirty="0">
                <a:latin typeface="Arial"/>
                <a:ea typeface="+mn-lt"/>
                <a:cs typeface="Times New Roman"/>
              </a:rPr>
              <a:t>2024 1st International Conference on Sustainability and Technological Advancements in Engineering Domain (SUSTAINED)</a:t>
            </a:r>
            <a:r>
              <a:rPr lang="en-US" dirty="0">
                <a:latin typeface="Arial"/>
                <a:ea typeface="+mn-lt"/>
                <a:cs typeface="Times New Roman"/>
              </a:rPr>
              <a:t> (pp. 232-238). IEEE.</a:t>
            </a:r>
          </a:p>
          <a:p>
            <a:endParaRPr lang="en-US" dirty="0">
              <a:latin typeface="Arial"/>
              <a:cs typeface="Arial"/>
            </a:endParaRPr>
          </a:p>
          <a:p>
            <a:r>
              <a:rPr lang="en-US" dirty="0">
                <a:latin typeface="Arial"/>
                <a:ea typeface="+mn-lt"/>
                <a:cs typeface="Arial"/>
              </a:rPr>
              <a:t>[</a:t>
            </a:r>
            <a:r>
              <a:rPr lang="en-US" dirty="0">
                <a:latin typeface="Arial"/>
                <a:ea typeface="+mn-lt"/>
                <a:cs typeface="Arial"/>
                <a:hlinkClick r:id="rId4"/>
              </a:rPr>
              <a:t>3</a:t>
            </a:r>
            <a:r>
              <a:rPr lang="en-US" dirty="0">
                <a:latin typeface="Arial"/>
                <a:ea typeface="+mn-lt"/>
                <a:cs typeface="Arial"/>
              </a:rPr>
              <a:t>]</a:t>
            </a:r>
            <a:r>
              <a:rPr lang="en-US" dirty="0">
                <a:latin typeface="Arial"/>
                <a:ea typeface="+mn-lt"/>
                <a:cs typeface="+mn-lt"/>
              </a:rPr>
              <a:t>Kamaruzaman, K. A., Yahaya, S. Z., </a:t>
            </a:r>
            <a:r>
              <a:rPr lang="en-US" dirty="0" err="1">
                <a:latin typeface="Arial"/>
                <a:ea typeface="+mn-lt"/>
                <a:cs typeface="+mn-lt"/>
              </a:rPr>
              <a:t>Noorsal</a:t>
            </a:r>
            <a:r>
              <a:rPr lang="en-US" dirty="0">
                <a:latin typeface="Arial"/>
                <a:ea typeface="+mn-lt"/>
                <a:cs typeface="+mn-lt"/>
              </a:rPr>
              <a:t>, E., </a:t>
            </a:r>
            <a:r>
              <a:rPr lang="en-US" dirty="0" err="1">
                <a:latin typeface="Arial"/>
                <a:ea typeface="+mn-lt"/>
                <a:cs typeface="+mn-lt"/>
              </a:rPr>
              <a:t>Boudville</a:t>
            </a:r>
            <a:r>
              <a:rPr lang="en-US" dirty="0">
                <a:latin typeface="Arial"/>
                <a:ea typeface="+mn-lt"/>
                <a:cs typeface="+mn-lt"/>
              </a:rPr>
              <a:t>, R., Ahmad, F., &amp; Soh, Z. C. (2023, August). Development of a sensory unit using a single IMU sensor for knee joint movement. In 2023, IEEE 13th International Conference on Control Systems, Computing and Engineering (ICCSCE) (pp. 353-357). IEEE.</a:t>
            </a:r>
          </a:p>
          <a:p>
            <a:endParaRPr lang="en-US" dirty="0">
              <a:latin typeface="Arial"/>
              <a:ea typeface="+mn-lt"/>
              <a:cs typeface="Arial"/>
            </a:endParaRPr>
          </a:p>
          <a:p>
            <a:r>
              <a:rPr lang="en-US" dirty="0">
                <a:latin typeface="Arial"/>
                <a:ea typeface="+mn-lt"/>
                <a:cs typeface="Arial"/>
              </a:rPr>
              <a:t>[</a:t>
            </a:r>
            <a:r>
              <a:rPr lang="en-US" dirty="0">
                <a:latin typeface="Arial"/>
                <a:ea typeface="+mn-lt"/>
                <a:cs typeface="Arial"/>
                <a:hlinkClick r:id="rId5"/>
              </a:rPr>
              <a:t>4</a:t>
            </a:r>
            <a:r>
              <a:rPr lang="en-US" dirty="0">
                <a:latin typeface="Arial"/>
                <a:ea typeface="+mn-lt"/>
                <a:cs typeface="Arial"/>
              </a:rPr>
              <a:t>]</a:t>
            </a:r>
            <a:r>
              <a:rPr lang="en-US" dirty="0">
                <a:latin typeface="Arial"/>
                <a:ea typeface="+mn-lt"/>
                <a:cs typeface="+mn-lt"/>
              </a:rPr>
              <a:t>Mohammadi, M., Al-Fuqaha, A., Sorour, S., &amp; </a:t>
            </a:r>
            <a:r>
              <a:rPr lang="en-US" dirty="0" err="1">
                <a:latin typeface="Arial"/>
                <a:ea typeface="+mn-lt"/>
                <a:cs typeface="+mn-lt"/>
              </a:rPr>
              <a:t>Guizani</a:t>
            </a:r>
            <a:r>
              <a:rPr lang="en-US" dirty="0">
                <a:latin typeface="Arial"/>
                <a:ea typeface="+mn-lt"/>
                <a:cs typeface="+mn-lt"/>
              </a:rPr>
              <a:t>, M. (2018). Deep learning for IoT big data and streaming analytics: A survey. IEEE Communications Surveys &amp; Tutorials, 20(4), 2923-2960.</a:t>
            </a:r>
          </a:p>
          <a:p>
            <a:endParaRPr lang="en-US" dirty="0">
              <a:latin typeface="Arial"/>
              <a:cs typeface="Arial"/>
            </a:endParaRPr>
          </a:p>
          <a:p>
            <a:r>
              <a:rPr lang="en-US" dirty="0">
                <a:latin typeface="Trebuchet MS"/>
                <a:cs typeface="Arial"/>
              </a:rPr>
              <a:t>[5]</a:t>
            </a:r>
            <a:r>
              <a:rPr lang="en-US" dirty="0" err="1">
                <a:latin typeface="Trebuchet MS"/>
                <a:cs typeface="Arial"/>
              </a:rPr>
              <a:t>Bharadwaz</a:t>
            </a:r>
            <a:r>
              <a:rPr lang="en-US" dirty="0">
                <a:latin typeface="Trebuchet MS"/>
                <a:cs typeface="Arial"/>
              </a:rPr>
              <a:t>, P. J., Shaju, V. M., Jayanth, B. S., Chaitanya, D., Reddy, M. N., &amp; </a:t>
            </a:r>
            <a:r>
              <a:rPr lang="en-US" dirty="0" err="1">
                <a:latin typeface="Trebuchet MS"/>
                <a:cs typeface="Arial"/>
              </a:rPr>
              <a:t>Bukya</a:t>
            </a:r>
            <a:r>
              <a:rPr lang="en-US" dirty="0">
                <a:latin typeface="Trebuchet MS"/>
                <a:cs typeface="Arial"/>
              </a:rPr>
              <a:t>, M. (2025, January). Electronic Circuit Design for an Autonomous Blimp Using Raspberry Pi Zero 2W. In </a:t>
            </a:r>
            <a:r>
              <a:rPr lang="en-US" i="1" dirty="0">
                <a:latin typeface="Trebuchet MS"/>
                <a:cs typeface="Arial"/>
              </a:rPr>
              <a:t>2025 International Conference on Next Generation Communication &amp; Information Processing (INCIP) </a:t>
            </a:r>
            <a:r>
              <a:rPr lang="en-US" dirty="0">
                <a:latin typeface="Trebuchet MS"/>
                <a:cs typeface="Arial"/>
              </a:rPr>
              <a:t>(pp. 1040-1043). IEEE.</a:t>
            </a:r>
          </a:p>
          <a:p>
            <a:endParaRPr lang="en-US" dirty="0">
              <a:latin typeface="Trebuchet MS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3029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DC081B-C45F-A70F-501D-B24DD7C93450}"/>
              </a:ext>
            </a:extLst>
          </p:cNvPr>
          <p:cNvSpPr txBox="1"/>
          <p:nvPr/>
        </p:nvSpPr>
        <p:spPr>
          <a:xfrm>
            <a:off x="271062" y="276069"/>
            <a:ext cx="11909480" cy="76636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ea typeface="Calibri"/>
                <a:cs typeface="Calibri"/>
              </a:rPr>
              <a:t>[6]binti Rasidi, N. I., Al-</a:t>
            </a:r>
            <a:r>
              <a:rPr lang="en-US" dirty="0" err="1">
                <a:latin typeface="Arial"/>
                <a:ea typeface="Calibri"/>
                <a:cs typeface="Calibri"/>
              </a:rPr>
              <a:t>Sanjary</a:t>
            </a:r>
            <a:r>
              <a:rPr lang="en-US" dirty="0">
                <a:latin typeface="Arial"/>
                <a:ea typeface="Calibri"/>
                <a:cs typeface="Calibri"/>
              </a:rPr>
              <a:t>, O. I., </a:t>
            </a:r>
            <a:r>
              <a:rPr lang="en-US" dirty="0" err="1">
                <a:latin typeface="Arial"/>
                <a:ea typeface="Calibri"/>
                <a:cs typeface="Calibri"/>
              </a:rPr>
              <a:t>Kashmola</a:t>
            </a:r>
            <a:r>
              <a:rPr lang="en-US" dirty="0">
                <a:latin typeface="Arial"/>
                <a:ea typeface="Calibri"/>
                <a:cs typeface="Calibri"/>
              </a:rPr>
              <a:t>, M. Y., &amp; Aik, K. L. T. (2022, December). Development on Autonomous Object Tracker Robot using Raspberry Pi. In </a:t>
            </a:r>
            <a:r>
              <a:rPr lang="en-US" i="1" dirty="0">
                <a:latin typeface="Arial"/>
                <a:ea typeface="Calibri"/>
                <a:cs typeface="Calibri"/>
              </a:rPr>
              <a:t>2022 IEEE 10th Conference on Systems, Process &amp; Control (ICSPC) </a:t>
            </a:r>
            <a:r>
              <a:rPr lang="en-US" dirty="0">
                <a:latin typeface="Arial"/>
                <a:ea typeface="Calibri"/>
                <a:cs typeface="Calibri"/>
              </a:rPr>
              <a:t>(pp. 29-33). IEEE.</a:t>
            </a:r>
            <a:endParaRPr lang="en-US">
              <a:latin typeface="Arial"/>
              <a:cs typeface="Arial"/>
            </a:endParaRPr>
          </a:p>
          <a:p>
            <a:endParaRPr lang="en-US" dirty="0">
              <a:latin typeface="Arial"/>
              <a:ea typeface="Calibri"/>
              <a:cs typeface="Calibri"/>
            </a:endParaRPr>
          </a:p>
          <a:p>
            <a:r>
              <a:rPr lang="en-US" dirty="0">
                <a:latin typeface="Arial"/>
                <a:ea typeface="Calibri"/>
                <a:cs typeface="Calibri"/>
              </a:rPr>
              <a:t>[7]Agrawal, A. K., Kumar, J., Kumar, A., &amp; Arvind, P. (2024, February). Enhancing human-robot interaction through PID control and sensor integration. In </a:t>
            </a:r>
            <a:r>
              <a:rPr lang="en-US" i="1" dirty="0">
                <a:latin typeface="Arial"/>
                <a:ea typeface="Calibri"/>
                <a:cs typeface="Calibri"/>
              </a:rPr>
              <a:t>2024 3rd International conference on Power Electronics and IoT Applications in Renewable Energy and its Control (PARC) </a:t>
            </a:r>
            <a:r>
              <a:rPr lang="en-US" dirty="0">
                <a:latin typeface="Arial"/>
                <a:ea typeface="Calibri"/>
                <a:cs typeface="Calibri"/>
              </a:rPr>
              <a:t>(pp. 540-546). IEEE.</a:t>
            </a:r>
          </a:p>
          <a:p>
            <a:endParaRPr lang="en-US" dirty="0">
              <a:latin typeface="Arial"/>
              <a:ea typeface="Calibri"/>
              <a:cs typeface="Calibri"/>
            </a:endParaRPr>
          </a:p>
          <a:p>
            <a:r>
              <a:rPr lang="en-US" dirty="0">
                <a:latin typeface="Arial"/>
                <a:ea typeface="Calibri"/>
                <a:cs typeface="Calibri"/>
              </a:rPr>
              <a:t>[8]Safa, A., &amp; Al-</a:t>
            </a:r>
            <a:r>
              <a:rPr lang="en-US" dirty="0" err="1">
                <a:latin typeface="Arial"/>
                <a:ea typeface="Calibri"/>
                <a:cs typeface="Calibri"/>
              </a:rPr>
              <a:t>Zawqari</a:t>
            </a:r>
            <a:r>
              <a:rPr lang="en-US" dirty="0">
                <a:latin typeface="Arial"/>
                <a:ea typeface="Calibri"/>
                <a:cs typeface="Calibri"/>
              </a:rPr>
              <a:t>, A. (2024, December). Co-design of a robot controller board and indoor positioning system for IoT-enabled applications. In the </a:t>
            </a:r>
            <a:r>
              <a:rPr lang="en-US" i="1" dirty="0">
                <a:latin typeface="Arial"/>
                <a:ea typeface="Calibri"/>
                <a:cs typeface="Arial"/>
              </a:rPr>
              <a:t>2024 International Conference on Microelectronics (ICM) </a:t>
            </a:r>
            <a:r>
              <a:rPr lang="en-US" dirty="0">
                <a:latin typeface="Arial"/>
                <a:ea typeface="Calibri"/>
                <a:cs typeface="Calibri"/>
              </a:rPr>
              <a:t>(pp. 1-6). IEEE.</a:t>
            </a:r>
          </a:p>
          <a:p>
            <a:endParaRPr lang="en-US" dirty="0">
              <a:latin typeface="Arial"/>
              <a:ea typeface="Calibri"/>
              <a:cs typeface="Calibri"/>
            </a:endParaRPr>
          </a:p>
          <a:p>
            <a:r>
              <a:rPr lang="en-US" dirty="0">
                <a:latin typeface="Arial"/>
                <a:ea typeface="Calibri"/>
                <a:cs typeface="Calibri"/>
              </a:rPr>
              <a:t>[9]Kapula, P. R., </a:t>
            </a:r>
            <a:r>
              <a:rPr lang="en-US" dirty="0" err="1">
                <a:latin typeface="Arial"/>
                <a:ea typeface="Calibri"/>
                <a:cs typeface="Calibri"/>
              </a:rPr>
              <a:t>Deekonda</a:t>
            </a:r>
            <a:r>
              <a:rPr lang="en-US" dirty="0">
                <a:latin typeface="Arial"/>
                <a:ea typeface="Calibri"/>
                <a:cs typeface="Calibri"/>
              </a:rPr>
              <a:t>, A., Dubey, S., </a:t>
            </a:r>
            <a:r>
              <a:rPr lang="en-US" dirty="0" err="1">
                <a:latin typeface="Arial"/>
                <a:ea typeface="Calibri"/>
                <a:cs typeface="Calibri"/>
              </a:rPr>
              <a:t>Sushannth</a:t>
            </a:r>
            <a:r>
              <a:rPr lang="en-US" dirty="0">
                <a:latin typeface="Arial"/>
                <a:ea typeface="Calibri"/>
                <a:cs typeface="Calibri"/>
              </a:rPr>
              <a:t>, B., Srikar, B. S., &amp; Reddy, </a:t>
            </a:r>
            <a:r>
              <a:rPr lang="en-US" dirty="0">
                <a:latin typeface="Arial"/>
                <a:ea typeface="Calibri"/>
                <a:cs typeface="Segoe UI"/>
              </a:rPr>
              <a:t>B. V. (2023, June). Design and Implementation of a Motion Imitation Robot. In </a:t>
            </a:r>
            <a:r>
              <a:rPr lang="en-US" i="1" dirty="0">
                <a:latin typeface="Arial"/>
                <a:ea typeface="Calibri"/>
                <a:cs typeface="Arial"/>
              </a:rPr>
              <a:t>2023, the 5th International Congress on Human-Computer Interaction, Optimization and Robotic Applications (HORA) </a:t>
            </a:r>
            <a:r>
              <a:rPr lang="en-US" dirty="0">
                <a:latin typeface="Arial"/>
                <a:ea typeface="Calibri"/>
                <a:cs typeface="Segoe UI"/>
              </a:rPr>
              <a:t>(pp. 1-5). IEEE</a:t>
            </a:r>
            <a:endParaRPr lang="en-US">
              <a:latin typeface="Arial"/>
              <a:cs typeface="Arial"/>
            </a:endParaRPr>
          </a:p>
          <a:p>
            <a:endParaRPr lang="en-US" dirty="0">
              <a:latin typeface="Arial"/>
              <a:ea typeface="Calibri"/>
              <a:cs typeface="Segoe UI"/>
            </a:endParaRPr>
          </a:p>
          <a:p>
            <a:r>
              <a:rPr lang="en-US" dirty="0">
                <a:latin typeface="Arial"/>
                <a:ea typeface="Calibri"/>
                <a:cs typeface="Calibri"/>
              </a:rPr>
              <a:t>[10]</a:t>
            </a:r>
            <a:r>
              <a:rPr lang="en-US" dirty="0" err="1">
                <a:latin typeface="Arial"/>
                <a:ea typeface="Calibri"/>
                <a:cs typeface="Calibri"/>
              </a:rPr>
              <a:t>Bingol</a:t>
            </a:r>
            <a:r>
              <a:rPr lang="en-US" dirty="0">
                <a:latin typeface="Arial"/>
                <a:ea typeface="Calibri"/>
                <a:cs typeface="Calibri"/>
              </a:rPr>
              <a:t>, O., </a:t>
            </a:r>
            <a:r>
              <a:rPr lang="en-US" dirty="0" err="1">
                <a:latin typeface="Arial"/>
                <a:ea typeface="Calibri"/>
                <a:cs typeface="Calibri"/>
              </a:rPr>
              <a:t>Tasdelen</a:t>
            </a:r>
            <a:r>
              <a:rPr lang="en-US" dirty="0">
                <a:latin typeface="Arial"/>
                <a:ea typeface="Calibri"/>
                <a:cs typeface="Calibri"/>
              </a:rPr>
              <a:t>, K., Keskin, Z., &amp; </a:t>
            </a:r>
            <a:r>
              <a:rPr lang="en-US" dirty="0" err="1">
                <a:latin typeface="Arial"/>
                <a:ea typeface="Calibri"/>
                <a:cs typeface="Calibri"/>
              </a:rPr>
              <a:t>Kocaturk</a:t>
            </a:r>
            <a:r>
              <a:rPr lang="en-US" dirty="0">
                <a:latin typeface="Arial"/>
                <a:ea typeface="Calibri"/>
                <a:cs typeface="Calibri"/>
              </a:rPr>
              <a:t>, Y. E. (2014). Web-based smart home automation: PLC-controlled implementation. </a:t>
            </a:r>
            <a:r>
              <a:rPr lang="en-US" i="1" dirty="0">
                <a:latin typeface="Arial"/>
                <a:ea typeface="Calibri"/>
                <a:cs typeface="Calibri"/>
              </a:rPr>
              <a:t>Acta </a:t>
            </a:r>
            <a:r>
              <a:rPr lang="en-US" i="1" dirty="0" err="1">
                <a:latin typeface="Arial"/>
                <a:ea typeface="Calibri"/>
                <a:cs typeface="Calibri"/>
              </a:rPr>
              <a:t>Polytechnica</a:t>
            </a:r>
            <a:r>
              <a:rPr lang="en-US" i="1" dirty="0">
                <a:latin typeface="Arial"/>
                <a:ea typeface="Calibri"/>
                <a:cs typeface="Calibri"/>
              </a:rPr>
              <a:t> </a:t>
            </a:r>
            <a:r>
              <a:rPr lang="en-US" i="1" dirty="0" err="1">
                <a:latin typeface="Arial"/>
                <a:ea typeface="Calibri"/>
                <a:cs typeface="Calibri"/>
              </a:rPr>
              <a:t>Hungarica</a:t>
            </a:r>
            <a:r>
              <a:rPr lang="en-US" dirty="0">
                <a:latin typeface="Arial"/>
                <a:ea typeface="Calibri"/>
                <a:cs typeface="Calibri"/>
              </a:rPr>
              <a:t>, </a:t>
            </a:r>
            <a:r>
              <a:rPr lang="en-US" i="1" dirty="0">
                <a:latin typeface="Arial"/>
                <a:ea typeface="Calibri"/>
                <a:cs typeface="Calibri"/>
              </a:rPr>
              <a:t>11</a:t>
            </a:r>
            <a:r>
              <a:rPr lang="en-US" dirty="0">
                <a:latin typeface="Arial"/>
                <a:ea typeface="Calibri"/>
                <a:cs typeface="Calibri"/>
              </a:rPr>
              <a:t>(3), 51-63.</a:t>
            </a:r>
          </a:p>
          <a:p>
            <a:endParaRPr lang="en-US" dirty="0">
              <a:latin typeface="Arial"/>
              <a:ea typeface="Calibri"/>
              <a:cs typeface="Calibri"/>
            </a:endParaRPr>
          </a:p>
          <a:p>
            <a:r>
              <a:rPr lang="en-US" dirty="0">
                <a:latin typeface="Arial"/>
                <a:ea typeface="Calibri"/>
                <a:cs typeface="Calibri"/>
              </a:rPr>
              <a:t>[11]</a:t>
            </a:r>
            <a:r>
              <a:rPr lang="en-US" dirty="0" err="1">
                <a:latin typeface="Arial"/>
                <a:ea typeface="Calibri"/>
                <a:cs typeface="Calibri"/>
              </a:rPr>
              <a:t>Sztipanovits</a:t>
            </a:r>
            <a:r>
              <a:rPr lang="en-US" dirty="0">
                <a:latin typeface="Arial"/>
                <a:ea typeface="Calibri"/>
                <a:cs typeface="Calibri"/>
              </a:rPr>
              <a:t>, J., Koutsoukos, X., Karsai, G., Kottenstette, N., </a:t>
            </a:r>
            <a:r>
              <a:rPr lang="en-US" dirty="0" err="1">
                <a:latin typeface="Arial"/>
                <a:ea typeface="Calibri"/>
                <a:cs typeface="Calibri"/>
              </a:rPr>
              <a:t>Antsaklis</a:t>
            </a:r>
            <a:r>
              <a:rPr lang="en-US" dirty="0">
                <a:latin typeface="Arial"/>
                <a:ea typeface="Calibri"/>
                <a:cs typeface="Calibri"/>
              </a:rPr>
              <a:t>, P., Gupta, V.,…&amp; Wang, S. (2011). Toward a science of cyber–physical system integration. </a:t>
            </a:r>
            <a:r>
              <a:rPr lang="en-US" i="1" dirty="0">
                <a:latin typeface="Arial"/>
                <a:ea typeface="Calibri"/>
                <a:cs typeface="Calibri"/>
              </a:rPr>
              <a:t>Proceedings of the IEEE</a:t>
            </a:r>
            <a:r>
              <a:rPr lang="en-US" dirty="0">
                <a:latin typeface="Arial"/>
                <a:ea typeface="Calibri"/>
                <a:cs typeface="Calibri"/>
              </a:rPr>
              <a:t>, </a:t>
            </a:r>
            <a:r>
              <a:rPr lang="en-US" i="1" dirty="0">
                <a:latin typeface="Arial"/>
                <a:ea typeface="Calibri"/>
                <a:cs typeface="Calibri"/>
              </a:rPr>
              <a:t>100</a:t>
            </a:r>
            <a:r>
              <a:rPr lang="en-US" dirty="0">
                <a:latin typeface="Arial"/>
                <a:ea typeface="Calibri"/>
                <a:cs typeface="Calibri"/>
              </a:rPr>
              <a:t>(1), 29-44</a:t>
            </a:r>
            <a:endParaRPr lang="en-US">
              <a:latin typeface="Arial"/>
              <a:cs typeface="Arial"/>
            </a:endParaRPr>
          </a:p>
          <a:p>
            <a:endParaRPr lang="en-US" dirty="0">
              <a:latin typeface="Arial"/>
              <a:ea typeface="Calibri"/>
              <a:cs typeface="Calibri"/>
            </a:endParaRPr>
          </a:p>
          <a:p>
            <a:endParaRPr lang="en-US" dirty="0">
              <a:latin typeface="Arial"/>
              <a:ea typeface="Calibri"/>
              <a:cs typeface="Calibri"/>
            </a:endParaRPr>
          </a:p>
          <a:p>
            <a:pPr>
              <a:buFont typeface="Symbol"/>
              <a:buChar char="•"/>
            </a:pPr>
            <a:endParaRPr lang="en-US" sz="1200" dirty="0">
              <a:latin typeface="Calibri"/>
              <a:ea typeface="Calibri"/>
              <a:cs typeface="Calibri"/>
            </a:endParaRPr>
          </a:p>
          <a:p>
            <a:pPr>
              <a:buFont typeface="Symbol"/>
              <a:buChar char="•"/>
            </a:pPr>
            <a:endParaRPr lang="en-US" sz="1200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Symbol"/>
              <a:buChar char="•"/>
            </a:pPr>
            <a:endParaRPr lang="en-US" sz="1200" dirty="0">
              <a:latin typeface="Arial"/>
              <a:ea typeface="Calibri"/>
              <a:cs typeface="Calibri"/>
            </a:endParaRPr>
          </a:p>
          <a:p>
            <a:endParaRPr lang="en-US" sz="1200" dirty="0">
              <a:latin typeface="Arial"/>
              <a:ea typeface="Calibri"/>
              <a:cs typeface="Segoe UI"/>
            </a:endParaRPr>
          </a:p>
          <a:p>
            <a:endParaRPr lang="en-US" sz="1200" dirty="0">
              <a:latin typeface="Arial"/>
              <a:ea typeface="Calibri"/>
              <a:cs typeface="Calibri"/>
            </a:endParaRPr>
          </a:p>
          <a:p>
            <a:endParaRPr lang="en-US" sz="1200" dirty="0">
              <a:latin typeface="Calibri"/>
              <a:ea typeface="Calibri"/>
              <a:cs typeface="Calibri"/>
            </a:endParaRPr>
          </a:p>
          <a:p>
            <a:endParaRPr lang="en-US" sz="1200" dirty="0">
              <a:latin typeface="Calibri"/>
              <a:ea typeface="Calibri"/>
              <a:cs typeface="Calibri"/>
            </a:endParaRPr>
          </a:p>
          <a:p>
            <a:endParaRPr lang="en-US" sz="12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6238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7F89F8-A140-44C1-94E4-37432DC7C466}"/>
              </a:ext>
            </a:extLst>
          </p:cNvPr>
          <p:cNvSpPr txBox="1"/>
          <p:nvPr/>
        </p:nvSpPr>
        <p:spPr>
          <a:xfrm>
            <a:off x="234539" y="260512"/>
            <a:ext cx="11645137" cy="77251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ea typeface="Calibri"/>
                <a:cs typeface="Calibri"/>
              </a:rPr>
              <a:t>[12]Pillai, A. S., &amp; Raj, A. (2022, October). Modeling &amp; Verification of an Adaptive IoT System using </a:t>
            </a:r>
            <a:r>
              <a:rPr lang="en-US" dirty="0" err="1">
                <a:latin typeface="Arial"/>
                <a:ea typeface="Calibri"/>
                <a:cs typeface="Calibri"/>
              </a:rPr>
              <a:t>Uppaal</a:t>
            </a:r>
            <a:r>
              <a:rPr lang="en-US" dirty="0">
                <a:latin typeface="Arial"/>
                <a:ea typeface="Calibri"/>
                <a:cs typeface="Calibri"/>
              </a:rPr>
              <a:t>. In </a:t>
            </a:r>
            <a:r>
              <a:rPr lang="en-US" i="1" dirty="0">
                <a:latin typeface="Arial"/>
                <a:ea typeface="Calibri"/>
                <a:cs typeface="Calibri"/>
              </a:rPr>
              <a:t>2022 IEEE 3rd Global Conference for Advancement in Technology (GCAT) </a:t>
            </a:r>
            <a:r>
              <a:rPr lang="en-US" dirty="0">
                <a:latin typeface="Arial"/>
                <a:ea typeface="Calibri"/>
                <a:cs typeface="Calibri"/>
              </a:rPr>
              <a:t>(pp. 1-5). IEEE</a:t>
            </a:r>
            <a:endParaRPr lang="en-US">
              <a:latin typeface="Arial"/>
              <a:cs typeface="Arial"/>
            </a:endParaRPr>
          </a:p>
          <a:p>
            <a:endParaRPr lang="en-US" dirty="0">
              <a:latin typeface="Arial"/>
              <a:ea typeface="Calibri"/>
              <a:cs typeface="Calibri"/>
            </a:endParaRPr>
          </a:p>
          <a:p>
            <a:r>
              <a:rPr lang="en-US" dirty="0">
                <a:latin typeface="Arial"/>
                <a:ea typeface="Calibri"/>
                <a:cs typeface="Calibri"/>
              </a:rPr>
              <a:t>[13]Stern, R. E., Cui, S., Delle Monache, M. L., </a:t>
            </a:r>
            <a:r>
              <a:rPr lang="en-US" dirty="0" err="1">
                <a:latin typeface="Arial"/>
                <a:ea typeface="Calibri"/>
                <a:cs typeface="Calibri"/>
              </a:rPr>
              <a:t>Bhadani</a:t>
            </a:r>
            <a:r>
              <a:rPr lang="en-US" dirty="0">
                <a:latin typeface="Arial"/>
                <a:ea typeface="Calibri"/>
                <a:cs typeface="Calibri"/>
              </a:rPr>
              <a:t>, R., Bunting, M., Churchill, M.,</a:t>
            </a:r>
          </a:p>
          <a:p>
            <a:pPr lvl="1"/>
            <a:r>
              <a:rPr lang="en-US" dirty="0">
                <a:latin typeface="Arial"/>
                <a:ea typeface="Calibri"/>
                <a:cs typeface="Calibri"/>
              </a:rPr>
              <a:t>... &amp; Work, D. B. (2018). Dissipation of stop-and-go waves via control of autonomous vehicles: Field experiments. </a:t>
            </a:r>
            <a:r>
              <a:rPr lang="en-US" i="1" dirty="0">
                <a:latin typeface="Arial"/>
                <a:ea typeface="Calibri"/>
                <a:cs typeface="Calibri"/>
              </a:rPr>
              <a:t>Transportation research part C: emerging technologies</a:t>
            </a:r>
            <a:r>
              <a:rPr lang="en-US" dirty="0">
                <a:latin typeface="Arial"/>
                <a:ea typeface="Calibri"/>
                <a:cs typeface="Calibri"/>
              </a:rPr>
              <a:t>, </a:t>
            </a:r>
            <a:r>
              <a:rPr lang="en-US" i="1" dirty="0">
                <a:latin typeface="Arial"/>
                <a:ea typeface="Calibri"/>
                <a:cs typeface="Calibri"/>
              </a:rPr>
              <a:t>89</a:t>
            </a:r>
            <a:r>
              <a:rPr lang="en-US" dirty="0">
                <a:latin typeface="Arial"/>
                <a:ea typeface="Calibri"/>
                <a:cs typeface="Calibri"/>
              </a:rPr>
              <a:t>, 205-221.</a:t>
            </a:r>
          </a:p>
          <a:p>
            <a:endParaRPr lang="en-US" dirty="0">
              <a:latin typeface="Arial"/>
              <a:ea typeface="Calibri"/>
              <a:cs typeface="Calibri"/>
            </a:endParaRPr>
          </a:p>
          <a:p>
            <a:r>
              <a:rPr lang="en-US" dirty="0">
                <a:latin typeface="Arial"/>
                <a:ea typeface="Calibri"/>
                <a:cs typeface="Calibri"/>
              </a:rPr>
              <a:t>[14]Mishi, M. R., Bibi, R., &amp; Ahsan, T. (2017, February). Multiple motion control system of robotic car based on IoT to produce cloud service. In </a:t>
            </a:r>
            <a:r>
              <a:rPr lang="en-US" i="1" dirty="0">
                <a:latin typeface="Arial"/>
                <a:ea typeface="Calibri"/>
                <a:cs typeface="Calibri"/>
              </a:rPr>
              <a:t>2017 International Conference on Electrical, Computer and Communication Engineering (ECCE) </a:t>
            </a:r>
            <a:r>
              <a:rPr lang="en-US" dirty="0">
                <a:latin typeface="Arial"/>
                <a:ea typeface="Calibri"/>
                <a:cs typeface="Calibri"/>
              </a:rPr>
              <a:t>(pp. 748-751). IEEE.</a:t>
            </a:r>
          </a:p>
          <a:p>
            <a:endParaRPr lang="en-US" dirty="0">
              <a:latin typeface="Arial"/>
              <a:ea typeface="Calibri"/>
              <a:cs typeface="Calibri"/>
            </a:endParaRPr>
          </a:p>
          <a:p>
            <a:r>
              <a:rPr lang="en-US" dirty="0">
                <a:latin typeface="Arial"/>
                <a:ea typeface="Calibri"/>
                <a:cs typeface="Calibri"/>
              </a:rPr>
              <a:t>[15]</a:t>
            </a:r>
            <a:r>
              <a:rPr lang="en-US" dirty="0" err="1">
                <a:latin typeface="Arial"/>
                <a:ea typeface="Calibri"/>
                <a:cs typeface="Calibri"/>
              </a:rPr>
              <a:t>Koyasako</a:t>
            </a:r>
            <a:r>
              <a:rPr lang="en-US" dirty="0">
                <a:latin typeface="Arial"/>
                <a:ea typeface="Calibri"/>
                <a:cs typeface="Calibri"/>
              </a:rPr>
              <a:t>, Y., Suzuki, T., Kim, S. Y., Kani, J. I., &amp; Terada, J. (2020, January). Real-time motion control method using measured delay information on access edge computing. In </a:t>
            </a:r>
            <a:r>
              <a:rPr lang="en-US" i="1" dirty="0">
                <a:latin typeface="Arial"/>
                <a:ea typeface="Calibri"/>
                <a:cs typeface="Calibri"/>
              </a:rPr>
              <a:t>2020 IEEE 17th Annual Consumer Communications &amp; Networking Conference (CCNC) </a:t>
            </a:r>
            <a:r>
              <a:rPr lang="en-US" dirty="0">
                <a:latin typeface="Arial"/>
                <a:ea typeface="Calibri"/>
                <a:cs typeface="Calibri"/>
              </a:rPr>
              <a:t>(pp. 1-4). IEEE.</a:t>
            </a:r>
          </a:p>
          <a:p>
            <a:endParaRPr lang="en-US" dirty="0">
              <a:latin typeface="Arial"/>
              <a:ea typeface="Calibri"/>
              <a:cs typeface="Calibri"/>
            </a:endParaRPr>
          </a:p>
          <a:p>
            <a:r>
              <a:rPr lang="en-US" dirty="0">
                <a:latin typeface="Arial"/>
                <a:ea typeface="Calibri"/>
                <a:cs typeface="Calibri"/>
              </a:rPr>
              <a:t>[16]Wang, W. (2013). Status and development trend of inertial technology. </a:t>
            </a:r>
            <a:r>
              <a:rPr lang="en-US" i="1" dirty="0">
                <a:latin typeface="Arial"/>
                <a:ea typeface="Calibri"/>
                <a:cs typeface="Calibri"/>
              </a:rPr>
              <a:t>Acta </a:t>
            </a:r>
            <a:r>
              <a:rPr lang="en-US" i="1" dirty="0" err="1">
                <a:latin typeface="Arial"/>
                <a:ea typeface="Calibri"/>
                <a:cs typeface="Calibri"/>
              </a:rPr>
              <a:t>Automatica</a:t>
            </a:r>
            <a:r>
              <a:rPr lang="en-US" i="1" dirty="0">
                <a:latin typeface="Arial"/>
                <a:ea typeface="Calibri"/>
                <a:cs typeface="Calibri"/>
              </a:rPr>
              <a:t> Sinica</a:t>
            </a:r>
            <a:r>
              <a:rPr lang="en-US" dirty="0">
                <a:latin typeface="Arial"/>
                <a:ea typeface="Calibri"/>
                <a:cs typeface="Calibri"/>
              </a:rPr>
              <a:t>, </a:t>
            </a:r>
            <a:r>
              <a:rPr lang="en-US" i="1" dirty="0">
                <a:latin typeface="Arial"/>
                <a:ea typeface="Calibri"/>
                <a:cs typeface="Calibri"/>
              </a:rPr>
              <a:t>39</a:t>
            </a:r>
            <a:r>
              <a:rPr lang="en-US" dirty="0">
                <a:latin typeface="Arial"/>
                <a:ea typeface="Calibri"/>
                <a:cs typeface="Calibri"/>
              </a:rPr>
              <a:t>(6), 723-729</a:t>
            </a:r>
            <a:endParaRPr lang="en-US">
              <a:latin typeface="Arial"/>
              <a:cs typeface="Arial"/>
            </a:endParaRPr>
          </a:p>
          <a:p>
            <a:endParaRPr lang="en-US" dirty="0">
              <a:latin typeface="Arial"/>
              <a:ea typeface="Calibri"/>
              <a:cs typeface="Calibri"/>
            </a:endParaRPr>
          </a:p>
          <a:p>
            <a:r>
              <a:rPr lang="en-US" dirty="0">
                <a:solidFill>
                  <a:srgbClr val="212121"/>
                </a:solidFill>
                <a:latin typeface="Arial"/>
                <a:ea typeface="Calibri"/>
                <a:cs typeface="Times New Roman"/>
              </a:rPr>
              <a:t>[17]Umar, A., Tripathi, S., &amp; Mahato, B. (2024, December). Feedback Simulation using IMU and Servo Motor. In </a:t>
            </a:r>
            <a:r>
              <a:rPr lang="en-US" i="1" dirty="0">
                <a:solidFill>
                  <a:srgbClr val="212121"/>
                </a:solidFill>
                <a:latin typeface="Arial"/>
                <a:ea typeface="Calibri"/>
                <a:cs typeface="Times New Roman"/>
              </a:rPr>
              <a:t>2024 1st International Conference on Sustainability and Technological Advancements in Engineering Domain (SUSTAINED) </a:t>
            </a:r>
            <a:r>
              <a:rPr lang="en-US" dirty="0">
                <a:solidFill>
                  <a:srgbClr val="212121"/>
                </a:solidFill>
                <a:latin typeface="Arial"/>
                <a:ea typeface="Calibri"/>
                <a:cs typeface="Times New Roman"/>
              </a:rPr>
              <a:t>(pp. 232-238). IEEE.</a:t>
            </a:r>
          </a:p>
          <a:p>
            <a:endParaRPr lang="en-US" dirty="0">
              <a:solidFill>
                <a:srgbClr val="212121"/>
              </a:solidFill>
              <a:latin typeface="Arial"/>
              <a:ea typeface="Calibri"/>
              <a:cs typeface="Times New Roman"/>
            </a:endParaRPr>
          </a:p>
          <a:p>
            <a:r>
              <a:rPr lang="en-US" dirty="0">
                <a:solidFill>
                  <a:srgbClr val="000000"/>
                </a:solidFill>
                <a:latin typeface="Arial"/>
                <a:ea typeface="Calibri"/>
                <a:cs typeface="Calibri"/>
              </a:rPr>
              <a:t>[18]</a:t>
            </a:r>
            <a:r>
              <a:rPr lang="en-US" dirty="0" err="1">
                <a:solidFill>
                  <a:srgbClr val="000000"/>
                </a:solidFill>
                <a:latin typeface="Arial"/>
                <a:ea typeface="Calibri"/>
                <a:cs typeface="Calibri"/>
              </a:rPr>
              <a:t>Perissinotto</a:t>
            </a:r>
            <a:r>
              <a:rPr lang="en-US" dirty="0">
                <a:solidFill>
                  <a:srgbClr val="000000"/>
                </a:solidFill>
                <a:latin typeface="Arial"/>
                <a:ea typeface="Calibri"/>
                <a:cs typeface="Calibri"/>
              </a:rPr>
              <a:t>, C. M., </a:t>
            </a:r>
            <a:r>
              <a:rPr lang="en-US" dirty="0" err="1">
                <a:solidFill>
                  <a:srgbClr val="000000"/>
                </a:solidFill>
                <a:latin typeface="Arial"/>
                <a:ea typeface="Calibri"/>
                <a:cs typeface="Calibri"/>
              </a:rPr>
              <a:t>Cenzer</a:t>
            </a:r>
            <a:r>
              <a:rPr lang="en-US" dirty="0">
                <a:solidFill>
                  <a:srgbClr val="000000"/>
                </a:solidFill>
                <a:latin typeface="Arial"/>
                <a:ea typeface="Calibri"/>
                <a:cs typeface="Calibri"/>
              </a:rPr>
              <a:t>, I. S., &amp; </a:t>
            </a:r>
            <a:r>
              <a:rPr lang="en-US" dirty="0" err="1">
                <a:solidFill>
                  <a:srgbClr val="000000"/>
                </a:solidFill>
                <a:latin typeface="Arial"/>
                <a:ea typeface="Calibri"/>
                <a:cs typeface="Calibri"/>
              </a:rPr>
              <a:t>Covinsky</a:t>
            </a:r>
            <a:r>
              <a:rPr lang="en-US" dirty="0">
                <a:solidFill>
                  <a:srgbClr val="000000"/>
                </a:solidFill>
                <a:latin typeface="Arial"/>
                <a:ea typeface="Calibri"/>
                <a:cs typeface="Calibri"/>
              </a:rPr>
              <a:t>, K. E. (2012). Loneliness in older persons: a predictor of functional decline and death. </a:t>
            </a:r>
            <a:r>
              <a:rPr lang="en-US" i="1" dirty="0">
                <a:solidFill>
                  <a:srgbClr val="000000"/>
                </a:solidFill>
                <a:latin typeface="Arial"/>
                <a:ea typeface="Calibri"/>
                <a:cs typeface="Calibri"/>
              </a:rPr>
              <a:t>Archives of internal medicine</a:t>
            </a:r>
            <a:r>
              <a:rPr lang="en-US" dirty="0">
                <a:solidFill>
                  <a:srgbClr val="000000"/>
                </a:solidFill>
                <a:latin typeface="Arial"/>
                <a:ea typeface="Calibri"/>
                <a:cs typeface="Calibri"/>
              </a:rPr>
              <a:t>, </a:t>
            </a:r>
            <a:r>
              <a:rPr lang="en-US" i="1" dirty="0">
                <a:solidFill>
                  <a:srgbClr val="000000"/>
                </a:solidFill>
                <a:latin typeface="Arial"/>
                <a:ea typeface="Calibri"/>
                <a:cs typeface="Calibri"/>
              </a:rPr>
              <a:t>172</a:t>
            </a:r>
            <a:r>
              <a:rPr lang="en-US" dirty="0">
                <a:solidFill>
                  <a:srgbClr val="000000"/>
                </a:solidFill>
                <a:latin typeface="Arial"/>
                <a:ea typeface="Calibri"/>
                <a:cs typeface="Calibri"/>
              </a:rPr>
              <a:t>(14), 1078- 1084.</a:t>
            </a:r>
          </a:p>
          <a:p>
            <a:endParaRPr lang="en-US" dirty="0">
              <a:latin typeface="Arial"/>
              <a:ea typeface="Calibri"/>
              <a:cs typeface="Calibri"/>
            </a:endParaRPr>
          </a:p>
          <a:p>
            <a:endParaRPr lang="en-US" dirty="0">
              <a:latin typeface="Arial"/>
              <a:ea typeface="Calibri"/>
              <a:cs typeface="Calibri"/>
            </a:endParaRPr>
          </a:p>
          <a:p>
            <a:pPr algn="ctr"/>
            <a:endParaRPr lang="en-US" sz="1400" dirty="0">
              <a:latin typeface="Calibri"/>
              <a:ea typeface="Calibri"/>
              <a:cs typeface="Calibri"/>
            </a:endParaRPr>
          </a:p>
          <a:p>
            <a:endParaRPr lang="en-US" sz="1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921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24E8C2-EE24-83C8-9FFE-438065F994A8}"/>
              </a:ext>
            </a:extLst>
          </p:cNvPr>
          <p:cNvSpPr txBox="1"/>
          <p:nvPr/>
        </p:nvSpPr>
        <p:spPr>
          <a:xfrm>
            <a:off x="367678" y="231734"/>
            <a:ext cx="11165845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ea typeface="Calibri"/>
                <a:cs typeface="Calibri"/>
              </a:rPr>
              <a:t>[19]Wang, C., &amp; Nonaka, T. (2021, October). Monitoring System for Balance Board</a:t>
            </a:r>
            <a:endParaRPr lang="en-US" dirty="0">
              <a:latin typeface="Arial"/>
              <a:cs typeface="Arial"/>
            </a:endParaRPr>
          </a:p>
          <a:p>
            <a:r>
              <a:rPr lang="en-US" dirty="0">
                <a:latin typeface="Arial"/>
                <a:ea typeface="Calibri"/>
                <a:cs typeface="Calibri"/>
              </a:rPr>
              <a:t>Simulating Side-riding Board Sports. In </a:t>
            </a:r>
            <a:r>
              <a:rPr lang="en-US" i="1" dirty="0">
                <a:latin typeface="Arial"/>
                <a:ea typeface="Calibri"/>
                <a:cs typeface="Calibri"/>
              </a:rPr>
              <a:t>2021 IEEE 10th Global Conference on Consumer Electronics (GCCE) </a:t>
            </a:r>
            <a:r>
              <a:rPr lang="en-US" dirty="0">
                <a:latin typeface="Arial"/>
                <a:ea typeface="Calibri"/>
                <a:cs typeface="Calibri"/>
              </a:rPr>
              <a:t>(pp. 415-416). IEEE.</a:t>
            </a:r>
          </a:p>
          <a:p>
            <a:pPr algn="l"/>
            <a:endParaRPr lang="en-US" dirty="0">
              <a:latin typeface="Arial"/>
              <a:ea typeface="Calibri"/>
              <a:cs typeface="Calibri"/>
            </a:endParaRPr>
          </a:p>
          <a:p>
            <a:r>
              <a:rPr lang="en-US" dirty="0">
                <a:latin typeface="Arial"/>
                <a:ea typeface="Calibri"/>
                <a:cs typeface="Calibri"/>
              </a:rPr>
              <a:t>[20]Moriya, K., Nakagawa, E., Fujimoto, M., Suwa, H., Arakawa, Y., Kimura, A., ... &amp; Yasumoto, K. (2017, March). Daily living activity recognition with </a:t>
            </a:r>
            <a:r>
              <a:rPr lang="en-US" dirty="0" err="1">
                <a:latin typeface="Arial"/>
                <a:ea typeface="Calibri"/>
                <a:cs typeface="Calibri"/>
              </a:rPr>
              <a:t>Echonet</a:t>
            </a:r>
            <a:r>
              <a:rPr lang="en-US" dirty="0">
                <a:latin typeface="Arial"/>
                <a:ea typeface="Calibri"/>
                <a:cs typeface="Calibri"/>
              </a:rPr>
              <a:t> Lite appliances and motion sensors. In </a:t>
            </a:r>
            <a:r>
              <a:rPr lang="en-US" i="1" dirty="0">
                <a:latin typeface="Arial"/>
                <a:ea typeface="Calibri"/>
                <a:cs typeface="Arial"/>
              </a:rPr>
              <a:t>2017 IEEE International Conference on Pervasive Computing and Communications Workshops (</a:t>
            </a:r>
            <a:r>
              <a:rPr lang="en-US" i="1" dirty="0" err="1">
                <a:latin typeface="Arial"/>
                <a:ea typeface="Calibri"/>
                <a:cs typeface="Arial"/>
              </a:rPr>
              <a:t>PerCom</a:t>
            </a:r>
            <a:r>
              <a:rPr lang="en-US" i="1" dirty="0">
                <a:latin typeface="Arial"/>
                <a:ea typeface="Calibri"/>
                <a:cs typeface="Arial"/>
              </a:rPr>
              <a:t> Workshops) </a:t>
            </a:r>
            <a:r>
              <a:rPr lang="en-US" dirty="0">
                <a:latin typeface="Arial"/>
                <a:ea typeface="Calibri"/>
                <a:cs typeface="Calibri"/>
              </a:rPr>
              <a:t>(pp. 437-442). IEEE.</a:t>
            </a:r>
          </a:p>
          <a:p>
            <a:endParaRPr lang="en-US" dirty="0">
              <a:latin typeface="Arial"/>
              <a:ea typeface="Calibri"/>
              <a:cs typeface="Segoe UI"/>
            </a:endParaRPr>
          </a:p>
          <a:p>
            <a:r>
              <a:rPr lang="en-US" dirty="0">
                <a:latin typeface="Arial"/>
                <a:ea typeface="Calibri"/>
                <a:cs typeface="Calibri"/>
              </a:rPr>
              <a:t>[21]Raja, G., </a:t>
            </a:r>
            <a:r>
              <a:rPr lang="en-US" dirty="0" err="1">
                <a:latin typeface="Arial"/>
                <a:ea typeface="Calibri"/>
                <a:cs typeface="Calibri"/>
              </a:rPr>
              <a:t>Essaky</a:t>
            </a:r>
            <a:r>
              <a:rPr lang="en-US" dirty="0">
                <a:latin typeface="Arial"/>
                <a:ea typeface="Calibri"/>
                <a:cs typeface="Calibri"/>
              </a:rPr>
              <a:t>, S., </a:t>
            </a:r>
            <a:r>
              <a:rPr lang="en-US" dirty="0" err="1">
                <a:latin typeface="Arial"/>
                <a:ea typeface="Calibri"/>
                <a:cs typeface="Calibri"/>
              </a:rPr>
              <a:t>Ganapathisubramaniyan</a:t>
            </a:r>
            <a:r>
              <a:rPr lang="en-US" dirty="0">
                <a:latin typeface="Arial"/>
                <a:ea typeface="Calibri"/>
                <a:cs typeface="Calibri"/>
              </a:rPr>
              <a:t>, A., &amp; Baskar, Y. (2022). Nexus of deep reinforcement learning and leader–follower approach for </a:t>
            </a:r>
            <a:r>
              <a:rPr lang="en-US" dirty="0" err="1">
                <a:latin typeface="Arial"/>
                <a:ea typeface="Calibri"/>
                <a:cs typeface="Calibri"/>
              </a:rPr>
              <a:t>AIoT</a:t>
            </a:r>
            <a:r>
              <a:rPr lang="en-US" dirty="0">
                <a:latin typeface="Arial"/>
                <a:ea typeface="Calibri"/>
                <a:cs typeface="Calibri"/>
              </a:rPr>
              <a:t> enabled aerial networks. </a:t>
            </a:r>
            <a:r>
              <a:rPr lang="en-US" i="1" dirty="0">
                <a:latin typeface="Arial"/>
                <a:ea typeface="Calibri"/>
                <a:cs typeface="Calibri"/>
              </a:rPr>
              <a:t>IEEE Transactions on Industrial Informatics</a:t>
            </a:r>
            <a:r>
              <a:rPr lang="en-US" dirty="0">
                <a:latin typeface="Arial"/>
                <a:ea typeface="Calibri"/>
                <a:cs typeface="Calibri"/>
              </a:rPr>
              <a:t>, </a:t>
            </a:r>
            <a:r>
              <a:rPr lang="en-US" i="1" dirty="0">
                <a:latin typeface="Arial"/>
                <a:ea typeface="Calibri"/>
                <a:cs typeface="Calibri"/>
              </a:rPr>
              <a:t>19</a:t>
            </a:r>
            <a:r>
              <a:rPr lang="en-US" dirty="0">
                <a:latin typeface="Arial"/>
                <a:ea typeface="Calibri"/>
                <a:cs typeface="Calibri"/>
              </a:rPr>
              <a:t>(8), 9165-9172</a:t>
            </a:r>
            <a:r>
              <a:rPr lang="en-US" b="1" dirty="0">
                <a:latin typeface="Arial"/>
                <a:ea typeface="Calibri"/>
                <a:cs typeface="Calibri"/>
              </a:rPr>
              <a:t>.</a:t>
            </a:r>
            <a:endParaRPr lang="en-US" dirty="0">
              <a:latin typeface="Arial"/>
              <a:ea typeface="Calibri"/>
              <a:cs typeface="Calibri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7045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107D52-49C3-F938-C3B2-88FA3BE970EF}"/>
              </a:ext>
            </a:extLst>
          </p:cNvPr>
          <p:cNvSpPr txBox="1"/>
          <p:nvPr/>
        </p:nvSpPr>
        <p:spPr>
          <a:xfrm>
            <a:off x="1197428" y="1673678"/>
            <a:ext cx="10287000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800" dirty="0">
                <a:latin typeface="Arial"/>
                <a:cs typeface="Arial"/>
              </a:rPr>
              <a:t>Thank You</a:t>
            </a:r>
            <a:endParaRPr lang="en-US" sz="8800"/>
          </a:p>
        </p:txBody>
      </p:sp>
    </p:spTree>
    <p:extLst>
      <p:ext uri="{BB962C8B-B14F-4D97-AF65-F5344CB8AC3E}">
        <p14:creationId xmlns:p14="http://schemas.microsoft.com/office/powerpoint/2010/main" val="427352917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290</TotalTime>
  <Words>2164</Words>
  <Application>Microsoft Office PowerPoint</Application>
  <PresentationFormat>Widescreen</PresentationFormat>
  <Paragraphs>283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Arial,Sans-Serif</vt:lpstr>
      <vt:lpstr>Calibri</vt:lpstr>
      <vt:lpstr>Symbol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Sakshi Yeole</cp:lastModifiedBy>
  <cp:revision>1158</cp:revision>
  <dcterms:created xsi:type="dcterms:W3CDTF">2025-09-16T11:19:13Z</dcterms:created>
  <dcterms:modified xsi:type="dcterms:W3CDTF">2026-05-08T06:56:17Z</dcterms:modified>
</cp:coreProperties>
</file>